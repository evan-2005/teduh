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d8f6f963-be9f-9d14-ff21-d74d07e1bd45}">
          <p14:sldIdLst>
            <p14:sldId id="256"/>
            <p14:sldId id="257"/>
            <p14:sldId id="258"/>
            <p14:sldId id="259"/>
          </p14:sldIdLst>
        </p14:section>
        <p14:section name="Proof" id="{274c9746-b611-4858-373e-168f32ca0f38}">
          <p14:sldIdLst>
            <p14:sldId id="260"/>
            <p14:sldId id="261"/>
            <p14:sldId id="262"/>
          </p14:sldIdLst>
        </p14:section>
        <p14:section name="Plan" id="{741facff-dd67-0cc1-8cde-b5fd21564b93}">
          <p14:sldIdLst>
            <p14:sldId id="263"/>
            <p14:sldId id="264"/>
            <p14:sldId id="265"/>
          </p14:sldIdLst>
        </p14:section>
        <p14:section name="Appendix" id="{bedc8f63-df2d-4b4d-ed16-6701ac8a4f1c}">
          <p14:sldIdLst>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0:00–0:15 (15 s) in the 5-minute run
[0:00] STEVEN
SAY: “Hi, we are Team One. I’m Steven, this is Thien Gen. Teduh is Malay for shaded or sheltered. Our track is Planet, focus climate resilience.”
DO: Deck on the cover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0:15–0:50 (35 s) in the 5-minute run
[0:15] STEVEN
SAY: “Picture SS 15 in Subang Jaya at 2 pm. About 5,000 people leave the LRT station on a weekday; that is real Prasarana ticket-gate data. Our model sends about 590 of them a day to the mall next door, and on that walk there’s a 218-metre stretch with no shade at all. The township has trees and footpaths. The problem is the gaps between them, and a manager with a small budget can’t see which gap matters most.”
DO: Next slide: Problem.
CHECK: ◆592 and ◆218 m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0:50–1:10 (20 s) in the 5-minute run
[0:50] STEVEN
SAY: “Our user is the person who holds the budget: the township manager. The landscape team builds it, and residents on foot benefit.”
DO: Next slide: Target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1:10–1:30 (20 s) in the 5-minute run
[1:10] STEVEN
SAY: “Teduh answers one question: with this budget, which shade helps the most walks? It recommends trees and covered walkways, shows before and after, and hands off a build pack. Thien Gen will show you on a real township.”
DO: Next slide: Solution, then the Live demo slide. Move aside; Thien Gen takes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1:30–3:45 (135 s) in the 5-minute run
[1:30] THIEN GEN
SAY: “Thanks, Steven. This is the real SS 15. Streets and buildings are from OpenStreetMap. Here is the 2 pm walk from the LRT station to the mall.”
DO: Alt+Tab to the app. Left panel: click Demo: 2 pm walk from the LRT station to the shopping mall.
CHECK: Headline ◆12.7. Under Journeys: LRT station → Shopping mall, “sun 3.0 → 1.9 min · exposed 218 → 149 m”
[1:45] THIEN GEN
SAY: “With RM 100,000, Teduh tried every affordable combination and recommends one covered walkway and two tree rows, for RM 94,100. The walkway from the station on Jengka Avenue does most of the work.”
DO: Top bar: 2 Plan builder. Point at the Best card, then scroll to What each one adds.
CHECK: Best: 1 covered walkway + 2 tree rows, RM ◆94,100 · ◆12.7. Walkway ◆539 min/day
[2:05] THIEN GEN
SAY: “Before on the left, after on the right.”
DO: On the map, drag the round ⇄ handle from the middle to the left, slowly, past the LRT station marker.
CHECK: Amber dashed paths by the station turn solid green
[2:20] THIEN GEN
SAY: “That’s the key idea: one walkway on a shared stretch helps the mall, the college and the clinic walks at once.”
DO: Keep the mouse still on the walkway.
[2:30] THIEN GEN
SAY: “Trees take years; a walkway works on day one. Let’s grow them ten years.”
DO: Top of the map: Future, then Grow. Wait about 5 s for Year 10.
CHECK: Best plan flips to 5 tree rows, RM ◆51,700 · ◆26.5
[2:50] THIEN GEN
SAY: “Twice the benefit for about half the money, if you can wait, and if the trees grow as modelled.”
[2:55] THIEN GEN
SAY: “Every item comes with a spec pack a contractor can quote from.”
DO: Click Now. Left panel, under Candidates: Details next to Covered walkway from the LRT station on Jengka Avenue (69 m).
CHECK: 3 Spec pack: ◆69 m, RM ◆79,000, drawing, bill of materials, Download CSV
[3:15] THIEN GEN
SAY: “OpenStreetMap has almost no trees mapped here, so our shade is a model. A survey photo fills that gap. A vision model running on this laptop estimates the shade, and nothing reaches the map until a person confirms it.”
DO: 4 AI scan. Path segment already reads Jengka Avenue (Main road) · seg-116. Choose File → photo → Estimate shade.
CHECK: “Estimating…” for about 10 s
[3:25] THIEN GEN
SAY: Talk over the wait: “Photos stay on this laptop, and there’s no cloud cost per photo.”
CHECK: “AI estimate: N% shaded”, “Estimated by a local model (qwen2.5vl:7b)”
[3:35] THIEN GEN
SAY: “I’ll check it against the photo, adjust, and confirm. Back to Steven.”
DO: Drag Your value if needed, then Confirm and apply to map. Alt+Tab back to the deck and hand the keyboard back.
CHECK: “Applied … as AI-CONFIRMED”. The headline may drop: see the note below
If the headline drops after Confirm (for example 12.7 → 7.9), that is correct: the photo says the walkway’s path already has some shade, so the walkway is worth less. With time to spare, say: “One photo changed the decision. That’s why the survey matters.” Before the next run, click Undo all, or the Demo button again.
HANDOVER: One laptop. Steven sits at the keyboard and advances the slides (arrow keys or a clicker). At 1:30 Thien Gen takes the mouse and keyboard and Alt+Tabs to the app. At 3:40 Thien Gen Alt+Tabs back to the deck and hands back. Steven stays silent during the demo; Thien Gen stays silent during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3:45–4:05 (20 s) in the 5-minute run
[3:45] STEVEN
SAY: “Under the hood: open map data, the real sun position, real station counts, and a score anyone can inspect: hours walked in direct sun, avoided.”
DO: Next slide: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4:05–4:20 (15 s) in the 5-minute run
[4:05] STEVEN
SAY: “In this scenario, RM 94,000 takes 12.7 pedestrian-hours a day out of direct sun. These are model estimates; a pilot measures the real effect.”
DO: Next slide: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4:20–4:30 (10 s) in the 5-minute run
[4:20] STEVEN
SAY: “Routing apps like Singapore’s Undercover help a walker. Teduh helps a township decide what to build.”
DO: Next slide: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4:30–4:45 (15 s) in the 5-minute run
[4:30] STEVEN
SAY: “It already runs on 15 Klang Valley areas and any other place in about 40 seconds: this is SDP’s own Ara Damansara.”
DO: Next slide: Feasibility.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4:45–5:00 (15 s) in the 5-minute run
[4:45] STEVEN
SAY: “Our ask: one SDP township to pilot, a landscape contact and a small budget line. Survey, build, measure in six months. Thank you.”
DO: Next slide: Implementation. Stop at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material for Q&amp;A, not part of the 5-minute run. If the live demo fails, use the screen slides that follow to tell the same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10-MINUTE VERSION (14 Nov, if Top 10)
Same split: Steven presents, Thien Gen demos. Same opening as Part A; Thien Gen’s demo runs longer, adding these after the AI scan step (at 3:35 Thien Gen carries on instead of handing back), and Steven takes back at 7:30. Do the Ara Damansara lookup once the evening before in the same browser: it is saved there, so on the day you can pick it from the Area dropdown if the Wi-Fi is slow.
[3:45] THIEN GEN: “Time of day matters.”  DO: 1 Map &amp; routes: drag Time of day from 2 pm to 5 pm and back. Exposed paths change.
[4:15] THIEN GEN: “Managers know their site. They can place their own.”  DO: 2 Plan builder → Plant a tree row → click 2–3 connected paths on the map → Add. It is priced and scored like the others.
[5:00] THIEN GEN: “A written summary for the manager, built only from the numbers on screen.”  DO: 4 AI scan → Explain this plan (about 20 s). A TEMPLATE badge means the model’s text was rejected for inventing a figure; say so, it is a safeguard.
[5:30] THIEN GEN: “And it works on SDP’s own township.”  DO: Look up a place → Ara Damansara → Search → pick Petaling Jaya, Petaling, Selangor. About 40 s: talk over it (“it is downloading streets, buildings and bus stops from OpenStreetMap and running the same model”). Then click the Demo button for Ara Damansara.
[6:30] THIEN GEN: “Change the budget, untick a candidate, prioritise the college.”  DO: Hand the mouse to a judge. Everything recalculates instantly. At 7:25 say “Back to Steven”, Alt+Tab to the deck and hand back.
[7:30] STEVEN: How it works, Impact, Innovation, Feasibility and Implementation slides, about 30 s each.  DO: Advance the slides.
[10:00] STEVEN: “Thank you. We’re happy to take questions.” Q&amp;A: Thien Gen takes the technical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 Q&amp;A when judges ask how accurate it is. Key line: every number in the app carries a label (surveyed, estimated, AI-confirmed or missing), and the pilot is designed to replace estimates with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spec pack step (2:55) if the live demo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AI scan step (3:15) if the live demo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Future and Grow step (2:30) if the live demo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 need to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algn="l" indent="0" marL="0">
              <a:buNone/>
              <a:defRPr lang="en-US" sz="1200" b="1"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ND">
    <p:bg>
      <p:bgPr>
        <a:solidFill>
          <a:schemeClr val="accent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algn="l" indent="0" marL="0">
              <a:buNone/>
              <a:defRPr lang="en-US" sz="1200" b="1" dirty="0">
                <a:solidFill>
                  <a:schemeClr val="accent3"/>
                </a:solidFill>
              </a:defRPr>
            </a:lvl1pPr>
          </a:lstStyle>
          <a:p>
            <a:pPr algn="l" indent="0" marL="0">
              <a:buNone/>
            </a:pP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algn="l" indent="0" marL="0">
              <a:buNone/>
              <a:defRPr lang="en-US" sz="1200" b="1"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rtlCol="0"/>
          <a:lstStyle>
            <a:lvl1pPr algn="l" indent="0" marL="0">
              <a:buNone/>
              <a:defRPr lang="en-US" sz="3400" b="1" dirty="0">
                <a:solidFill>
                  <a:schemeClr val="bg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11094415" cy="411480"/>
          </a:xfrm>
          <a:prstGeom prst="rect">
            <a:avLst/>
          </a:prstGeom>
          <a:noFill/>
          <a:ln/>
        </p:spPr>
        <p:txBody>
          <a:bodyPr wrap="square" rtlCol="0"/>
          <a:lstStyle>
            <a:lvl1pPr algn="l" indent="0" marL="0">
              <a:buNone/>
              <a:defRPr lang="en-US" sz="1600" b="1" dirty="0">
                <a:solidFill>
                  <a:schemeClr val="tx1"/>
                </a:solidFill>
              </a:defRPr>
            </a:lvl1pPr>
          </a:lstStyle>
          <a:p>
            <a:pPr algn="l" indent="0" marL="0">
              <a:buNone/>
            </a:pPr>
            <a:endParaRPr lang="en-US" sz="1600" dirty="0"/>
          </a:p>
        </p:txBody>
      </p:sp>
      <p:sp>
        <p:nvSpPr>
          <p:cNvPr id="3" name="Text 0"/>
          <p:cNvSpPr/>
          <p:nvPr>
            <p:ph idx="101" type="title" hasCustomPrompt="1"/>
          </p:nvPr>
        </p:nvSpPr>
        <p:spPr>
          <a:xfrm>
            <a:off x="548640" y="1965960"/>
            <a:ext cx="11094415" cy="201168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ck"/>
          <p:cNvSpPr txBox="1"/>
          <p:nvPr/>
        </p:nvSpPr>
        <p:spPr>
          <a:xfrm>
            <a:off x="548640" y="640080"/>
            <a:ext cx="11094415" cy="365760"/>
          </a:xfrm>
          <a:prstGeom prst="rect">
            <a:avLst/>
          </a:prstGeom>
          <a:noFill/>
          <a:ln/>
        </p:spPr>
        <p:txBody>
          <a:bodyPr wrap="square" lIns="0" tIns="0" rIns="0" bIns="0" rtlCol="0" anchor="ctr"/>
          <a:lstStyle/>
          <a:p>
            <a:pPr indent="0" marL="0">
              <a:buNone/>
            </a:pPr>
            <a:r>
              <a:rPr lang="en-US" sz="1400" b="1" spc="400" kern="0" dirty="0">
                <a:solidFill>
                  <a:schemeClr val="accent1"/>
                </a:solidFill>
              </a:rPr>
              <a:t>PLANET TRACK · CLIMATE RESILIENCE</a:t>
            </a:r>
            <a:endParaRPr lang="en-US" sz="1400" dirty="0"/>
          </a:p>
        </p:txBody>
      </p:sp>
      <p:sp>
        <p:nvSpPr>
          <p:cNvPr id="3" name="Name"/>
          <p:cNvSpPr txBox="1"/>
          <p:nvPr/>
        </p:nvSpPr>
        <p:spPr>
          <a:xfrm>
            <a:off x="548640" y="1371600"/>
            <a:ext cx="11094415" cy="1463040"/>
          </a:xfrm>
          <a:prstGeom prst="rect">
            <a:avLst/>
          </a:prstGeom>
          <a:noFill/>
          <a:ln/>
        </p:spPr>
        <p:txBody>
          <a:bodyPr wrap="square" lIns="0" tIns="0" rIns="0" bIns="0" rtlCol="0" anchor="ctr"/>
          <a:lstStyle/>
          <a:p>
            <a:pPr indent="0" marL="0">
              <a:buNone/>
            </a:pPr>
            <a:r>
              <a:rPr lang="en-US" sz="11000" b="1" dirty="0">
                <a:solidFill>
                  <a:schemeClr val="bg2"/>
                </a:solidFill>
                <a:latin typeface="+mj-lt" pitchFamily="34" charset="0"/>
                <a:ea typeface="+mj-lt" pitchFamily="34" charset="-122"/>
                <a:cs typeface="+mj-lt" pitchFamily="34" charset="-120"/>
              </a:rPr>
              <a:t>Teduh</a:t>
            </a:r>
            <a:endParaRPr lang="en-US" sz="11000" dirty="0"/>
          </a:p>
        </p:txBody>
      </p:sp>
      <p:sp>
        <p:nvSpPr>
          <p:cNvPr id="4" name="Tagline"/>
          <p:cNvSpPr txBox="1"/>
          <p:nvPr/>
        </p:nvSpPr>
        <p:spPr>
          <a:xfrm>
            <a:off x="548640" y="2880360"/>
            <a:ext cx="11094415" cy="640080"/>
          </a:xfrm>
          <a:prstGeom prst="rect">
            <a:avLst/>
          </a:prstGeom>
          <a:noFill/>
          <a:ln/>
        </p:spPr>
        <p:txBody>
          <a:bodyPr wrap="square" lIns="0" tIns="0" rIns="0" bIns="0" rtlCol="0" anchor="ctr"/>
          <a:lstStyle/>
          <a:p>
            <a:pPr indent="0" marL="0">
              <a:buNone/>
            </a:pPr>
            <a:r>
              <a:rPr lang="en-US" sz="3400" i="1" dirty="0">
                <a:solidFill>
                  <a:schemeClr val="bg2"/>
                </a:solidFill>
                <a:latin typeface="+mj-lt" pitchFamily="34" charset="0"/>
                <a:ea typeface="+mj-lt" pitchFamily="34" charset="-122"/>
                <a:cs typeface="+mj-lt" pitchFamily="34" charset="-120"/>
              </a:rPr>
              <a:t>Small changes. Cooler journeys.</a:t>
            </a:r>
            <a:endParaRPr lang="en-US" sz="3400" dirty="0"/>
          </a:p>
        </p:txBody>
      </p:sp>
      <p:sp>
        <p:nvSpPr>
          <p:cNvPr id="5" name="Promise"/>
          <p:cNvSpPr txBox="1"/>
          <p:nvPr/>
        </p:nvSpPr>
        <p:spPr>
          <a:xfrm>
            <a:off x="548640" y="3657600"/>
            <a:ext cx="7680960" cy="914400"/>
          </a:xfrm>
          <a:prstGeom prst="rect">
            <a:avLst/>
          </a:prstGeom>
          <a:noFill/>
          <a:ln/>
        </p:spPr>
        <p:txBody>
          <a:bodyPr wrap="square" lIns="0" tIns="0" rIns="0" bIns="0" rtlCol="0" anchor="ctr"/>
          <a:lstStyle/>
          <a:p>
            <a:pPr indent="0" marL="0">
              <a:buNone/>
            </a:pPr>
            <a:r>
              <a:rPr lang="en-US" sz="1800" dirty="0">
                <a:solidFill>
                  <a:schemeClr val="accent4"/>
                </a:solidFill>
              </a:rPr>
              <a:t>A map that shows a township where its next ringgit of shade, a tree row or a covered walkway, helps the most people walking every day.</a:t>
            </a:r>
            <a:endParaRPr lang="en-US" sz="1800" dirty="0"/>
          </a:p>
        </p:txBody>
      </p:sp>
      <p:sp>
        <p:nvSpPr>
          <p:cNvPr id="6" name="Presenters"/>
          <p:cNvSpPr txBox="1"/>
          <p:nvPr/>
        </p:nvSpPr>
        <p:spPr>
          <a:xfrm>
            <a:off x="548640" y="5257800"/>
            <a:ext cx="6858000" cy="731520"/>
          </a:xfrm>
          <a:prstGeom prst="rect">
            <a:avLst/>
          </a:prstGeom>
          <a:noFill/>
          <a:ln/>
        </p:spPr>
        <p:txBody>
          <a:bodyPr wrap="square" lIns="0" tIns="0" rIns="0" bIns="0" rtlCol="0" anchor="ctr"/>
          <a:lstStyle/>
          <a:p>
            <a:pPr indent="0" marL="0">
              <a:buNone/>
            </a:pPr>
            <a:r>
              <a:rPr lang="en-US" sz="1800" b="1" dirty="0">
                <a:solidFill>
                  <a:schemeClr val="bg2"/>
                </a:solidFill>
              </a:rPr>
              <a:t>Hong Thien Gen, Evan Lo Jen Zhen &amp; Chang Juan Jue</a:t>
            </a:r>
            <a:endParaRPr lang="en-US" sz="1800" dirty="0"/>
          </a:p>
          <a:p>
            <a:pPr indent="0" marL="0">
              <a:buNone/>
            </a:pPr>
            <a:r>
              <a:rPr lang="en-US" sz="1800" dirty="0">
                <a:solidFill>
                  <a:schemeClr val="bg2"/>
                </a:solidFill>
              </a:rPr>
              <a:t>Team One · Mixed Universities</a:t>
            </a:r>
            <a:endParaRPr lang="en-US" sz="1800" dirty="0"/>
          </a:p>
        </p:txBody>
      </p:sp>
      <p:sp>
        <p:nvSpPr>
          <p:cNvPr id="7" name="Event"/>
          <p:cNvSpPr txBox="1"/>
          <p:nvPr/>
        </p:nvSpPr>
        <p:spPr>
          <a:xfrm>
            <a:off x="6949440" y="5623560"/>
            <a:ext cx="4693615" cy="365760"/>
          </a:xfrm>
          <a:prstGeom prst="rect">
            <a:avLst/>
          </a:prstGeom>
          <a:noFill/>
          <a:ln/>
        </p:spPr>
        <p:txBody>
          <a:bodyPr wrap="square" lIns="0" tIns="0" rIns="0" bIns="0" rtlCol="0" anchor="ctr"/>
          <a:lstStyle/>
          <a:p>
            <a:pPr algn="r" indent="0" marL="0">
              <a:buNone/>
            </a:pPr>
            <a:r>
              <a:rPr lang="en-US" sz="1200" dirty="0">
                <a:solidFill>
                  <a:schemeClr val="accent4"/>
                </a:solidFill>
              </a:rPr>
              <a:t>Sime Darby Property University Hackathon 2026 · Township of Tomorrow</a:t>
            </a:r>
            <a:endParaRPr lang="en-US" sz="1200" dirty="0"/>
          </a:p>
        </p:txBody>
      </p:sp>
      <p:sp>
        <p:nvSpPr>
          <p:cNvPr id="9"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endParaRPr lang="en-US" sz="1200" dirty="0"/>
          </a:p>
        </p:txBody>
      </p:sp>
      <p:sp>
        <p:nvSpPr>
          <p:cNvPr id="10"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PROBLEM</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The walk from the station is the hottest part of the trip</a:t>
            </a:r>
            <a:endParaRPr lang="en-US" sz="3400" dirty="0"/>
          </a:p>
        </p:txBody>
      </p:sp>
      <p:sp>
        <p:nvSpPr>
          <p:cNvPr id="4" name="Walks per day card"/>
          <p:cNvSpPr/>
          <p:nvPr/>
        </p:nvSpPr>
        <p:spPr>
          <a:xfrm>
            <a:off x="548640" y="2148840"/>
            <a:ext cx="3291840" cy="2743200"/>
          </a:xfrm>
          <a:prstGeom prst="roundRect">
            <a:avLst>
              <a:gd name="adj" fmla="val 4000"/>
            </a:avLst>
          </a:prstGeom>
          <a:solidFill>
            <a:schemeClr val="bg1"/>
          </a:solidFill>
          <a:ln/>
          <a:effectLst>
            <a:outerShdw sx="100000" sy="100000" kx="0" ky="0" algn="bl" rotWithShape="0" blurRad="127000" dist="38100" dir="5400000">
              <a:srgbClr val="173D2E">
                <a:alpha val="14000"/>
              </a:srgbClr>
            </a:outerShdw>
          </a:effectLst>
        </p:spPr>
      </p:sp>
      <p:sp>
        <p:nvSpPr>
          <p:cNvPr id="5" name="Walks per day"/>
          <p:cNvSpPr txBox="1"/>
          <p:nvPr/>
        </p:nvSpPr>
        <p:spPr>
          <a:xfrm>
            <a:off x="868680" y="2377440"/>
            <a:ext cx="2651760" cy="2377440"/>
          </a:xfrm>
          <a:prstGeom prst="rect">
            <a:avLst/>
          </a:prstGeom>
          <a:noFill/>
          <a:ln/>
        </p:spPr>
        <p:txBody>
          <a:bodyPr wrap="square" lIns="0" tIns="0" rIns="0" bIns="0" rtlCol="0" anchor="t"/>
          <a:lstStyle/>
          <a:p>
            <a:pPr indent="0" marL="0">
              <a:spcAft>
                <a:spcPts val="600"/>
              </a:spcAft>
              <a:buNone/>
            </a:pPr>
            <a:r>
              <a:rPr lang="en-US" sz="6600" b="1" dirty="0">
                <a:solidFill>
                  <a:schemeClr val="tx1"/>
                </a:solidFill>
                <a:latin typeface="+mj-lt" pitchFamily="34" charset="0"/>
                <a:ea typeface="+mj-lt" pitchFamily="34" charset="-122"/>
                <a:cs typeface="+mj-lt" pitchFamily="34" charset="-120"/>
              </a:rPr>
              <a:t>592</a:t>
            </a:r>
            <a:endParaRPr lang="en-US" sz="6600" dirty="0"/>
          </a:p>
          <a:p>
            <a:pPr indent="0" marL="0">
              <a:spcAft>
                <a:spcPts val="600"/>
              </a:spcAft>
              <a:buNone/>
            </a:pPr>
            <a:r>
              <a:rPr lang="en-US" sz="1700" dirty="0">
                <a:solidFill>
                  <a:schemeClr val="tx2"/>
                </a:solidFill>
              </a:rPr>
              <a:t>walks a day from SS15 LRT station to the mall, scaled from real ticket-gate counts</a:t>
            </a:r>
            <a:endParaRPr lang="en-US" sz="6600" dirty="0"/>
          </a:p>
        </p:txBody>
      </p:sp>
      <p:sp>
        <p:nvSpPr>
          <p:cNvPr id="6" name="Exposed stretch card"/>
          <p:cNvSpPr/>
          <p:nvPr/>
        </p:nvSpPr>
        <p:spPr>
          <a:xfrm>
            <a:off x="4114800" y="2148840"/>
            <a:ext cx="3291840" cy="2743200"/>
          </a:xfrm>
          <a:prstGeom prst="roundRect">
            <a:avLst>
              <a:gd name="adj" fmla="val 4000"/>
            </a:avLst>
          </a:prstGeom>
          <a:solidFill>
            <a:schemeClr val="bg1"/>
          </a:solidFill>
          <a:ln/>
          <a:effectLst>
            <a:outerShdw sx="100000" sy="100000" kx="0" ky="0" algn="bl" rotWithShape="0" blurRad="127000" dist="38100" dir="5400000">
              <a:srgbClr val="173D2E">
                <a:alpha val="14000"/>
              </a:srgbClr>
            </a:outerShdw>
          </a:effectLst>
        </p:spPr>
      </p:sp>
      <p:sp>
        <p:nvSpPr>
          <p:cNvPr id="7" name="Exposed stretch"/>
          <p:cNvSpPr txBox="1"/>
          <p:nvPr/>
        </p:nvSpPr>
        <p:spPr>
          <a:xfrm>
            <a:off x="4434840" y="2377440"/>
            <a:ext cx="2651760" cy="2377440"/>
          </a:xfrm>
          <a:prstGeom prst="rect">
            <a:avLst/>
          </a:prstGeom>
          <a:noFill/>
          <a:ln/>
        </p:spPr>
        <p:txBody>
          <a:bodyPr wrap="square" lIns="0" tIns="0" rIns="0" bIns="0" rtlCol="0" anchor="t"/>
          <a:lstStyle/>
          <a:p>
            <a:pPr indent="0" marL="0">
              <a:spcAft>
                <a:spcPts val="600"/>
              </a:spcAft>
              <a:buNone/>
            </a:pPr>
            <a:r>
              <a:rPr lang="en-US" sz="6600" b="1" dirty="0">
                <a:solidFill>
                  <a:schemeClr val="accent3"/>
                </a:solidFill>
                <a:latin typeface="+mj-lt" pitchFamily="34" charset="0"/>
                <a:ea typeface="+mj-lt" pitchFamily="34" charset="-122"/>
                <a:cs typeface="+mj-lt" pitchFamily="34" charset="-120"/>
              </a:rPr>
              <a:t>218 m</a:t>
            </a:r>
            <a:endParaRPr lang="en-US" sz="6600" dirty="0"/>
          </a:p>
          <a:p>
            <a:pPr indent="0" marL="0">
              <a:spcAft>
                <a:spcPts val="600"/>
              </a:spcAft>
              <a:buNone/>
            </a:pPr>
            <a:r>
              <a:rPr lang="en-US" sz="1700" dirty="0">
                <a:solidFill>
                  <a:schemeClr val="tx2"/>
                </a:solidFill>
              </a:rPr>
              <a:t>of that walk in one unbroken stretch of direct sun at 2 pm</a:t>
            </a:r>
            <a:endParaRPr lang="en-US" sz="6600" dirty="0"/>
          </a:p>
        </p:txBody>
      </p:sp>
      <p:sp>
        <p:nvSpPr>
          <p:cNvPr id="8" name="Why it matters"/>
          <p:cNvSpPr txBox="1"/>
          <p:nvPr/>
        </p:nvSpPr>
        <p:spPr>
          <a:xfrm>
            <a:off x="8001000" y="2377440"/>
            <a:ext cx="3642055" cy="2926080"/>
          </a:xfrm>
          <a:prstGeom prst="rect">
            <a:avLst/>
          </a:prstGeom>
          <a:noFill/>
          <a:ln/>
        </p:spPr>
        <p:txBody>
          <a:bodyPr wrap="square" lIns="0" tIns="0" rIns="0" bIns="0" rtlCol="0" anchor="ctr"/>
          <a:lstStyle/>
          <a:p>
            <a:pPr indent="0" marL="0">
              <a:buNone/>
            </a:pPr>
            <a:r>
              <a:rPr lang="en-US" sz="2000" dirty="0">
                <a:solidFill>
                  <a:schemeClr val="tx1"/>
                </a:solidFill>
              </a:rPr>
              <a:t>A township can have trees and footpaths and </a:t>
            </a:r>
            <a:pPr indent="0" marL="0">
              <a:buNone/>
            </a:pPr>
            <a:r>
              <a:rPr lang="en-US" sz="2000" b="1" dirty="0">
                <a:solidFill>
                  <a:schemeClr val="tx1"/>
                </a:solidFill>
              </a:rPr>
              <a:t>still leave exposed gaps between them.</a:t>
            </a:r>
            <a:endParaRPr lang="en-US" sz="2000" dirty="0"/>
          </a:p>
          <a:p>
            <a:pPr indent="0" marL="0">
              <a:buNone/>
            </a:pPr>
            <a:r>
              <a:rPr lang="en-US" sz="2000" dirty="0">
                <a:solidFill>
                  <a:schemeClr val="tx1"/>
                </a:solidFill>
              </a:rPr>
              <a:t> </a:t>
            </a:r>
            <a:endParaRPr lang="en-US" sz="2000" dirty="0"/>
          </a:p>
          <a:p>
            <a:pPr indent="0" marL="0">
              <a:buNone/>
            </a:pPr>
            <a:r>
              <a:rPr lang="en-US" sz="2000" dirty="0">
                <a:solidFill>
                  <a:schemeClr val="tx2"/>
                </a:solidFill>
              </a:rPr>
              <a:t>Managers have a small budget and no way to see which gap matters most.</a:t>
            </a:r>
            <a:endParaRPr lang="en-US" sz="2000" dirty="0"/>
          </a:p>
        </p:txBody>
      </p:sp>
      <p:sp>
        <p:nvSpPr>
          <p:cNvPr id="9" name="Footer note"/>
          <p:cNvSpPr txBox="1"/>
          <p:nvPr/>
        </p:nvSpPr>
        <p:spPr>
          <a:xfrm>
            <a:off x="548640" y="6236208"/>
            <a:ext cx="10362895" cy="320040"/>
          </a:xfrm>
          <a:prstGeom prst="rect">
            <a:avLst/>
          </a:prstGeom>
          <a:noFill/>
          <a:ln/>
        </p:spPr>
        <p:txBody>
          <a:bodyPr wrap="square" lIns="0" tIns="0" rIns="0" bIns="0" rtlCol="0" anchor="ctr"/>
          <a:lstStyle/>
          <a:p>
            <a:pPr indent="0" marL="0">
              <a:buNone/>
            </a:pPr>
            <a:r>
              <a:rPr lang="en-US" sz="1100" dirty="0">
                <a:solidFill>
                  <a:schemeClr val="tx2"/>
                </a:solidFill>
              </a:rPr>
              <a:t>SS 15, Subang Jaya. Walks modelled from OpenStreetMap and Prasarana ticket-gate data (about 5,165 exits on a weekday). Estimates, not measurements.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TARGET USER</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“With our budget, which shade helps the most everyday walks?”</a:t>
            </a:r>
            <a:endParaRPr lang="en-US" sz="3400" dirty="0"/>
          </a:p>
        </p:txBody>
      </p:sp>
      <p:sp>
        <p:nvSpPr>
          <p:cNvPr id="4" name="Township managers card"/>
          <p:cNvSpPr/>
          <p:nvPr/>
        </p:nvSpPr>
        <p:spPr>
          <a:xfrm>
            <a:off x="548640" y="2240280"/>
            <a:ext cx="3515258" cy="2514600"/>
          </a:xfrm>
          <a:prstGeom prst="roundRect">
            <a:avLst>
              <a:gd name="adj" fmla="val 4364"/>
            </a:avLst>
          </a:prstGeom>
          <a:solidFill>
            <a:schemeClr val="tx1"/>
          </a:solidFill>
          <a:ln/>
          <a:effectLst>
            <a:outerShdw sx="100000" sy="100000" kx="0" ky="0" algn="bl" rotWithShape="0" blurRad="127000" dist="38100" dir="5400000">
              <a:srgbClr val="173D2E">
                <a:alpha val="14000"/>
              </a:srgbClr>
            </a:outerShdw>
          </a:effectLst>
        </p:spPr>
      </p:sp>
      <p:sp>
        <p:nvSpPr>
          <p:cNvPr id="5" name="Township managers"/>
          <p:cNvSpPr txBox="1"/>
          <p:nvPr/>
        </p:nvSpPr>
        <p:spPr>
          <a:xfrm>
            <a:off x="868680" y="2514600"/>
            <a:ext cx="2875178" cy="2103120"/>
          </a:xfrm>
          <a:prstGeom prst="rect">
            <a:avLst/>
          </a:prstGeom>
          <a:noFill/>
          <a:ln/>
        </p:spPr>
        <p:txBody>
          <a:bodyPr wrap="square" lIns="0" tIns="0" rIns="0" bIns="0" rtlCol="0" anchor="t"/>
          <a:lstStyle/>
          <a:p>
            <a:pPr indent="0" marL="0">
              <a:spcAft>
                <a:spcPts val="1000"/>
              </a:spcAft>
              <a:buNone/>
            </a:pPr>
            <a:r>
              <a:rPr lang="en-US" sz="1300" b="1" spc="200" kern="0" dirty="0">
                <a:solidFill>
                  <a:schemeClr val="accent1"/>
                </a:solidFill>
              </a:rPr>
              <a:t>DECIDES</a:t>
            </a:r>
            <a:endParaRPr lang="en-US" sz="1300" dirty="0"/>
          </a:p>
          <a:p>
            <a:pPr indent="0" marL="0">
              <a:spcAft>
                <a:spcPts val="1000"/>
              </a:spcAft>
              <a:buNone/>
            </a:pPr>
            <a:r>
              <a:rPr lang="en-US" sz="2400" b="1" dirty="0">
                <a:solidFill>
                  <a:schemeClr val="bg2"/>
                </a:solidFill>
                <a:latin typeface="+mj-lt" pitchFamily="34" charset="0"/>
                <a:ea typeface="+mj-lt" pitchFamily="34" charset="-122"/>
                <a:cs typeface="+mj-lt" pitchFamily="34" charset="-120"/>
              </a:rPr>
              <a:t>Township managers</a:t>
            </a:r>
            <a:endParaRPr lang="en-US" sz="1300" dirty="0"/>
          </a:p>
          <a:p>
            <a:pPr indent="0" marL="0">
              <a:spcAft>
                <a:spcPts val="1000"/>
              </a:spcAft>
              <a:buNone/>
            </a:pPr>
            <a:r>
              <a:rPr lang="en-US" sz="1600" dirty="0">
                <a:solidFill>
                  <a:schemeClr val="accent4"/>
                </a:solidFill>
              </a:rPr>
              <a:t>Set the budget and priorities, compare plans, choose what to build.</a:t>
            </a:r>
            <a:endParaRPr lang="en-US" sz="1300" dirty="0"/>
          </a:p>
        </p:txBody>
      </p:sp>
      <p:sp>
        <p:nvSpPr>
          <p:cNvPr id="6" name="Landscape &amp; maintenance teams card"/>
          <p:cNvSpPr/>
          <p:nvPr/>
        </p:nvSpPr>
        <p:spPr>
          <a:xfrm>
            <a:off x="4338218" y="2240280"/>
            <a:ext cx="3515258" cy="2514600"/>
          </a:xfrm>
          <a:prstGeom prst="roundRect">
            <a:avLst>
              <a:gd name="adj" fmla="val 4364"/>
            </a:avLst>
          </a:prstGeom>
          <a:solidFill>
            <a:schemeClr val="bg1"/>
          </a:solidFill>
          <a:ln/>
          <a:effectLst>
            <a:outerShdw sx="100000" sy="100000" kx="0" ky="0" algn="bl" rotWithShape="0" blurRad="127000" dist="38100" dir="5400000">
              <a:srgbClr val="173D2E">
                <a:alpha val="14000"/>
              </a:srgbClr>
            </a:outerShdw>
          </a:effectLst>
        </p:spPr>
      </p:sp>
      <p:sp>
        <p:nvSpPr>
          <p:cNvPr id="7" name="Landscape &amp; maintenance teams"/>
          <p:cNvSpPr txBox="1"/>
          <p:nvPr/>
        </p:nvSpPr>
        <p:spPr>
          <a:xfrm>
            <a:off x="4658258" y="2514600"/>
            <a:ext cx="2875178" cy="2103120"/>
          </a:xfrm>
          <a:prstGeom prst="rect">
            <a:avLst/>
          </a:prstGeom>
          <a:noFill/>
          <a:ln/>
        </p:spPr>
        <p:txBody>
          <a:bodyPr wrap="square" lIns="0" tIns="0" rIns="0" bIns="0" rtlCol="0" anchor="t"/>
          <a:lstStyle/>
          <a:p>
            <a:pPr indent="0" marL="0">
              <a:spcAft>
                <a:spcPts val="1000"/>
              </a:spcAft>
              <a:buNone/>
            </a:pPr>
            <a:r>
              <a:rPr lang="en-US" sz="1300" b="1" spc="200" kern="0" dirty="0">
                <a:solidFill>
                  <a:schemeClr val="accent3"/>
                </a:solidFill>
              </a:rPr>
              <a:t>BUILDS</a:t>
            </a:r>
            <a:endParaRPr lang="en-US" sz="1300" dirty="0"/>
          </a:p>
          <a:p>
            <a:pPr indent="0" marL="0">
              <a:spcAft>
                <a:spcPts val="1000"/>
              </a:spcAft>
              <a:buNone/>
            </a:pPr>
            <a:r>
              <a:rPr lang="en-US" sz="2400" b="1" dirty="0">
                <a:solidFill>
                  <a:schemeClr val="tx1"/>
                </a:solidFill>
                <a:latin typeface="+mj-lt" pitchFamily="34" charset="0"/>
                <a:ea typeface="+mj-lt" pitchFamily="34" charset="-122"/>
                <a:cs typeface="+mj-lt" pitchFamily="34" charset="-120"/>
              </a:rPr>
              <a:t>Landscape &amp; maintenance teams</a:t>
            </a:r>
            <a:endParaRPr lang="en-US" sz="1300" dirty="0"/>
          </a:p>
          <a:p>
            <a:pPr indent="0" marL="0">
              <a:spcAft>
                <a:spcPts val="1000"/>
              </a:spcAft>
              <a:buNone/>
            </a:pPr>
            <a:r>
              <a:rPr lang="en-US" sz="1600" dirty="0">
                <a:solidFill>
                  <a:schemeClr val="tx2"/>
                </a:solidFill>
              </a:rPr>
              <a:t>Check the site, get a spec pack a contractor can quote from, update the map.</a:t>
            </a:r>
            <a:endParaRPr lang="en-US" sz="1300" dirty="0"/>
          </a:p>
        </p:txBody>
      </p:sp>
      <p:sp>
        <p:nvSpPr>
          <p:cNvPr id="8" name="Residents on foot card"/>
          <p:cNvSpPr/>
          <p:nvPr/>
        </p:nvSpPr>
        <p:spPr>
          <a:xfrm>
            <a:off x="8127797" y="2240280"/>
            <a:ext cx="3515258" cy="2514600"/>
          </a:xfrm>
          <a:prstGeom prst="roundRect">
            <a:avLst>
              <a:gd name="adj" fmla="val 4364"/>
            </a:avLst>
          </a:prstGeom>
          <a:solidFill>
            <a:schemeClr val="bg1"/>
          </a:solidFill>
          <a:ln/>
          <a:effectLst>
            <a:outerShdw sx="100000" sy="100000" kx="0" ky="0" algn="bl" rotWithShape="0" blurRad="127000" dist="38100" dir="5400000">
              <a:srgbClr val="173D2E">
                <a:alpha val="14000"/>
              </a:srgbClr>
            </a:outerShdw>
          </a:effectLst>
        </p:spPr>
      </p:sp>
      <p:sp>
        <p:nvSpPr>
          <p:cNvPr id="9" name="Residents on foot"/>
          <p:cNvSpPr txBox="1"/>
          <p:nvPr/>
        </p:nvSpPr>
        <p:spPr>
          <a:xfrm>
            <a:off x="8447837" y="2514600"/>
            <a:ext cx="2875178" cy="2103120"/>
          </a:xfrm>
          <a:prstGeom prst="rect">
            <a:avLst/>
          </a:prstGeom>
          <a:noFill/>
          <a:ln/>
        </p:spPr>
        <p:txBody>
          <a:bodyPr wrap="square" lIns="0" tIns="0" rIns="0" bIns="0" rtlCol="0" anchor="t"/>
          <a:lstStyle/>
          <a:p>
            <a:pPr indent="0" marL="0">
              <a:spcAft>
                <a:spcPts val="1000"/>
              </a:spcAft>
              <a:buNone/>
            </a:pPr>
            <a:r>
              <a:rPr lang="en-US" sz="1300" b="1" spc="200" kern="0" dirty="0">
                <a:solidFill>
                  <a:schemeClr val="accent3"/>
                </a:solidFill>
              </a:rPr>
              <a:t>BENEFITS</a:t>
            </a:r>
            <a:endParaRPr lang="en-US" sz="1300" dirty="0"/>
          </a:p>
          <a:p>
            <a:pPr indent="0" marL="0">
              <a:spcAft>
                <a:spcPts val="1000"/>
              </a:spcAft>
              <a:buNone/>
            </a:pPr>
            <a:r>
              <a:rPr lang="en-US" sz="2400" b="1" dirty="0">
                <a:solidFill>
                  <a:schemeClr val="tx1"/>
                </a:solidFill>
                <a:latin typeface="+mj-lt" pitchFamily="34" charset="0"/>
                <a:ea typeface="+mj-lt" pitchFamily="34" charset="-122"/>
                <a:cs typeface="+mj-lt" pitchFamily="34" charset="-120"/>
              </a:rPr>
              <a:t>Residents on foot</a:t>
            </a:r>
            <a:endParaRPr lang="en-US" sz="1300" dirty="0"/>
          </a:p>
          <a:p>
            <a:pPr indent="0" marL="0">
              <a:spcAft>
                <a:spcPts val="1000"/>
              </a:spcAft>
              <a:buNone/>
            </a:pPr>
            <a:r>
              <a:rPr lang="en-US" sz="1600" dirty="0">
                <a:solidFill>
                  <a:schemeClr val="tx2"/>
                </a:solidFill>
              </a:rPr>
              <a:t>Students, commuters and older residents walking to the train, the bus, school and the shops.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SOLUTION</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Teduh picks the shade that helps most</a:t>
            </a:r>
            <a:endParaRPr lang="en-US" sz="3400" dirty="0"/>
          </a:p>
        </p:txBody>
      </p:sp>
      <p:sp>
        <p:nvSpPr>
          <p:cNvPr id="4" name="What it does"/>
          <p:cNvSpPr txBox="1"/>
          <p:nvPr/>
        </p:nvSpPr>
        <p:spPr>
          <a:xfrm>
            <a:off x="548640" y="2194560"/>
            <a:ext cx="4206240" cy="3291840"/>
          </a:xfrm>
          <a:prstGeom prst="rect">
            <a:avLst/>
          </a:prstGeom>
          <a:noFill/>
          <a:ln/>
        </p:spPr>
        <p:txBody>
          <a:bodyPr wrap="square" lIns="0" tIns="0" rIns="0" bIns="0" rtlCol="0" anchor="t"/>
          <a:lstStyle/>
          <a:p>
            <a:pPr indent="0" marL="0">
              <a:spcAft>
                <a:spcPts val="1800"/>
              </a:spcAft>
              <a:buNone/>
            </a:pPr>
            <a:r>
              <a:rPr lang="en-US" sz="2000" b="1" dirty="0">
                <a:solidFill>
                  <a:schemeClr val="tx1"/>
                </a:solidFill>
              </a:rPr>
              <a:t>Recommend </a:t>
            </a:r>
            <a:pPr indent="0" marL="0">
              <a:spcAft>
                <a:spcPts val="1800"/>
              </a:spcAft>
              <a:buNone/>
            </a:pPr>
            <a:r>
              <a:rPr lang="en-US" sz="2000" dirty="0">
                <a:solidFill>
                  <a:schemeClr val="tx1"/>
                </a:solidFill>
              </a:rPr>
              <a:t>the best mix of tree rows and covered walkways for the budget.</a:t>
            </a:r>
            <a:endParaRPr lang="en-US" sz="2000" dirty="0"/>
          </a:p>
          <a:p>
            <a:pPr indent="0" marL="0">
              <a:spcAft>
                <a:spcPts val="1800"/>
              </a:spcAft>
              <a:buNone/>
            </a:pPr>
            <a:r>
              <a:rPr lang="en-US" sz="2000" b="1" dirty="0">
                <a:solidFill>
                  <a:schemeClr val="tx1"/>
                </a:solidFill>
              </a:rPr>
              <a:t>Show </a:t>
            </a:r>
            <a:pPr indent="0" marL="0">
              <a:spcAft>
                <a:spcPts val="1800"/>
              </a:spcAft>
              <a:buNone/>
            </a:pPr>
            <a:r>
              <a:rPr lang="en-US" sz="2000" dirty="0">
                <a:solidFill>
                  <a:schemeClr val="tx1"/>
                </a:solidFill>
              </a:rPr>
              <a:t>before and after on the map, now and in ten years.</a:t>
            </a:r>
            <a:endParaRPr lang="en-US" sz="2000" dirty="0"/>
          </a:p>
          <a:p>
            <a:pPr indent="0" marL="0">
              <a:spcAft>
                <a:spcPts val="1800"/>
              </a:spcAft>
              <a:buNone/>
            </a:pPr>
            <a:r>
              <a:rPr lang="en-US" sz="2000" b="1" dirty="0">
                <a:solidFill>
                  <a:schemeClr val="tx1"/>
                </a:solidFill>
              </a:rPr>
              <a:t>Hand off </a:t>
            </a:r>
            <a:pPr indent="0" marL="0">
              <a:spcAft>
                <a:spcPts val="1800"/>
              </a:spcAft>
              <a:buNone/>
            </a:pPr>
            <a:r>
              <a:rPr lang="en-US" sz="2000" dirty="0">
                <a:solidFill>
                  <a:schemeClr val="tx1"/>
                </a:solidFill>
              </a:rPr>
              <a:t>a bill of materials and a drawing for each item.</a:t>
            </a:r>
            <a:endParaRPr lang="en-US" sz="2000" dirty="0"/>
          </a:p>
        </p:txBody>
      </p:sp>
      <p:pic>
        <p:nvPicPr>
          <p:cNvPr id="5" name="Swipe screenshot" descr="Teduh map of SS 15 with the before and after swipe divider; amber paths are in sun, green paths are shaded by the plan">    </p:cNvPr>
          <p:cNvPicPr>
            <a:picLocks noChangeAspect="1"/>
          </p:cNvPicPr>
          <p:nvPr/>
        </p:nvPicPr>
        <p:blipFill>
          <a:blip r:embed="rId1"/>
          <a:stretch>
            <a:fillRect/>
          </a:stretch>
        </p:blipFill>
        <p:spPr>
          <a:xfrm>
            <a:off x="5120640" y="2057400"/>
            <a:ext cx="6519672" cy="407479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11094415" cy="411480"/>
          </a:xfrm>
          <a:prstGeom prst="rect">
            <a:avLst/>
          </a:prstGeom>
          <a:noFill/>
          <a:ln/>
        </p:spPr>
        <p:txBody>
          <a:bodyPr wrap="square" lIns="0" tIns="0" rIns="0" bIns="0" rtlCol="0"/>
          <a:lstStyle/>
          <a:p>
            <a:pPr algn="l" indent="0" marL="0">
              <a:buNone/>
            </a:pPr>
            <a:r>
              <a:rPr lang="en-US" sz="1600" b="1" spc="400" kern="0" dirty="0">
                <a:solidFill>
                  <a:schemeClr val="tx1"/>
                </a:solidFill>
              </a:rPr>
              <a:t>LIVE DEMO · 2 MINUTES</a:t>
            </a:r>
            <a:endParaRPr lang="en-US" sz="1600" dirty="0"/>
          </a:p>
        </p:txBody>
      </p:sp>
      <p:sp>
        <p:nvSpPr>
          <p:cNvPr id="3" name="Text 0"/>
          <p:cNvSpPr/>
          <p:nvPr>
            <p:ph idx="101" type="title" hasCustomPrompt="1"/>
          </p:nvPr>
        </p:nvSpPr>
        <p:spPr>
          <a:xfrm>
            <a:off x="548640" y="1965960"/>
            <a:ext cx="11094415" cy="2011680"/>
          </a:xfrm>
          <a:prstGeom prst="rect">
            <a:avLst/>
          </a:prstGeom>
          <a:noFill/>
          <a:ln/>
        </p:spPr>
        <p:txBody>
          <a:bodyPr wrap="square" lIns="0" tIns="0" rIns="0" bIns="0" rtlCol="0" anchor="t"/>
          <a:lstStyle/>
          <a:p>
            <a:pPr algn="l" indent="0" marL="0">
              <a:buNone/>
            </a:pPr>
            <a:r>
              <a:rPr lang="en-US" sz="5400" b="1" dirty="0">
                <a:solidFill>
                  <a:schemeClr val="tx1"/>
                </a:solidFill>
              </a:rPr>
              <a:t>2 pm. LRT station to the mall.</a:t>
            </a:r>
            <a:endParaRPr lang="en-US" sz="5400" dirty="0"/>
          </a:p>
          <a:p>
            <a:pPr algn="l" indent="0" marL="0">
              <a:buNone/>
            </a:pPr>
            <a:r>
              <a:rPr lang="en-US" sz="5400" b="1" dirty="0">
                <a:solidFill>
                  <a:schemeClr val="tx1"/>
                </a:solidFill>
              </a:rPr>
              <a:t>RM 100,000.</a:t>
            </a:r>
            <a:endParaRPr lang="en-US" sz="5400" dirty="0"/>
          </a:p>
        </p:txBody>
      </p:sp>
      <p:sp>
        <p:nvSpPr>
          <p:cNvPr id="4" name="Step 1"/>
          <p:cNvSpPr/>
          <p:nvPr/>
        </p:nvSpPr>
        <p:spPr>
          <a:xfrm>
            <a:off x="548640" y="4343400"/>
            <a:ext cx="2072579" cy="777240"/>
          </a:xfrm>
          <a:prstGeom prst="roundRect">
            <a:avLst>
              <a:gd name="adj" fmla="val 47059"/>
            </a:avLst>
          </a:prstGeom>
          <a:solidFill>
            <a:schemeClr val="tx1"/>
          </a:solidFill>
          <a:ln/>
        </p:spPr>
        <p:txBody>
          <a:bodyPr wrap="square" lIns="1016" tIns="1016" rIns="1016" bIns="1016" rtlCol="0" anchor="ctr"/>
          <a:lstStyle/>
          <a:p>
            <a:pPr algn="ctr" indent="0" marL="0">
              <a:buNone/>
            </a:pPr>
            <a:r>
              <a:rPr lang="en-US" sz="1500" dirty="0">
                <a:solidFill>
                  <a:schemeClr val="bg2"/>
                </a:solidFill>
              </a:rPr>
              <a:t>Recommend a plan</a:t>
            </a:r>
            <a:endParaRPr lang="en-US" sz="1500" dirty="0"/>
          </a:p>
        </p:txBody>
      </p:sp>
      <p:sp>
        <p:nvSpPr>
          <p:cNvPr id="5" name="Step 2"/>
          <p:cNvSpPr/>
          <p:nvPr/>
        </p:nvSpPr>
        <p:spPr>
          <a:xfrm>
            <a:off x="2804099" y="4343400"/>
            <a:ext cx="2072579" cy="777240"/>
          </a:xfrm>
          <a:prstGeom prst="roundRect">
            <a:avLst>
              <a:gd name="adj" fmla="val 47059"/>
            </a:avLst>
          </a:prstGeom>
          <a:solidFill>
            <a:schemeClr val="tx1"/>
          </a:solidFill>
          <a:ln/>
        </p:spPr>
        <p:txBody>
          <a:bodyPr wrap="square" lIns="1016" tIns="1016" rIns="1016" bIns="1016" rtlCol="0" anchor="ctr"/>
          <a:lstStyle/>
          <a:p>
            <a:pPr algn="ctr" indent="0" marL="0">
              <a:buNone/>
            </a:pPr>
            <a:r>
              <a:rPr lang="en-US" sz="1500" dirty="0">
                <a:solidFill>
                  <a:schemeClr val="bg2"/>
                </a:solidFill>
              </a:rPr>
              <a:t>Swipe before / after</a:t>
            </a:r>
            <a:endParaRPr lang="en-US" sz="1500" dirty="0"/>
          </a:p>
        </p:txBody>
      </p:sp>
      <p:sp>
        <p:nvSpPr>
          <p:cNvPr id="6" name="Step 3"/>
          <p:cNvSpPr/>
          <p:nvPr/>
        </p:nvSpPr>
        <p:spPr>
          <a:xfrm>
            <a:off x="5059558" y="4343400"/>
            <a:ext cx="2072579" cy="777240"/>
          </a:xfrm>
          <a:prstGeom prst="roundRect">
            <a:avLst>
              <a:gd name="adj" fmla="val 47059"/>
            </a:avLst>
          </a:prstGeom>
          <a:solidFill>
            <a:schemeClr val="tx1"/>
          </a:solidFill>
          <a:ln/>
        </p:spPr>
        <p:txBody>
          <a:bodyPr wrap="square" lIns="1016" tIns="1016" rIns="1016" bIns="1016" rtlCol="0" anchor="ctr"/>
          <a:lstStyle/>
          <a:p>
            <a:pPr algn="ctr" indent="0" marL="0">
              <a:buNone/>
            </a:pPr>
            <a:r>
              <a:rPr lang="en-US" sz="1500" dirty="0">
                <a:solidFill>
                  <a:schemeClr val="bg2"/>
                </a:solidFill>
              </a:rPr>
              <a:t>Grow trees 10 years</a:t>
            </a:r>
            <a:endParaRPr lang="en-US" sz="1500" dirty="0"/>
          </a:p>
        </p:txBody>
      </p:sp>
      <p:sp>
        <p:nvSpPr>
          <p:cNvPr id="7" name="Step 4"/>
          <p:cNvSpPr/>
          <p:nvPr/>
        </p:nvSpPr>
        <p:spPr>
          <a:xfrm>
            <a:off x="7315017" y="4343400"/>
            <a:ext cx="2072579" cy="777240"/>
          </a:xfrm>
          <a:prstGeom prst="roundRect">
            <a:avLst>
              <a:gd name="adj" fmla="val 47059"/>
            </a:avLst>
          </a:prstGeom>
          <a:solidFill>
            <a:schemeClr val="tx1"/>
          </a:solidFill>
          <a:ln/>
        </p:spPr>
        <p:txBody>
          <a:bodyPr wrap="square" lIns="1016" tIns="1016" rIns="1016" bIns="1016" rtlCol="0" anchor="ctr"/>
          <a:lstStyle/>
          <a:p>
            <a:pPr algn="ctr" indent="0" marL="0">
              <a:buNone/>
            </a:pPr>
            <a:r>
              <a:rPr lang="en-US" sz="1500" dirty="0">
                <a:solidFill>
                  <a:schemeClr val="bg2"/>
                </a:solidFill>
              </a:rPr>
              <a:t>Open the spec pack</a:t>
            </a:r>
            <a:endParaRPr lang="en-US" sz="1500" dirty="0"/>
          </a:p>
        </p:txBody>
      </p:sp>
      <p:sp>
        <p:nvSpPr>
          <p:cNvPr id="8" name="Step 5"/>
          <p:cNvSpPr/>
          <p:nvPr/>
        </p:nvSpPr>
        <p:spPr>
          <a:xfrm>
            <a:off x="9570476" y="4343400"/>
            <a:ext cx="2072579" cy="777240"/>
          </a:xfrm>
          <a:prstGeom prst="roundRect">
            <a:avLst>
              <a:gd name="adj" fmla="val 47059"/>
            </a:avLst>
          </a:prstGeom>
          <a:solidFill>
            <a:schemeClr val="tx1"/>
          </a:solidFill>
          <a:ln/>
        </p:spPr>
        <p:txBody>
          <a:bodyPr wrap="square" lIns="1016" tIns="1016" rIns="1016" bIns="1016" rtlCol="0" anchor="ctr"/>
          <a:lstStyle/>
          <a:p>
            <a:pPr algn="ctr" indent="0" marL="0">
              <a:buNone/>
            </a:pPr>
            <a:r>
              <a:rPr lang="en-US" sz="1500" dirty="0">
                <a:solidFill>
                  <a:schemeClr val="bg2"/>
                </a:solidFill>
              </a:rPr>
              <a:t>Scan a path photo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HOW IT WORKS</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Open data in, a build pack out</a:t>
            </a:r>
            <a:endParaRPr lang="en-US" sz="3400" dirty="0"/>
          </a:p>
        </p:txBody>
      </p:sp>
      <p:sp>
        <p:nvSpPr>
          <p:cNvPr id="4" name="Map card"/>
          <p:cNvSpPr/>
          <p:nvPr/>
        </p:nvSpPr>
        <p:spPr>
          <a:xfrm>
            <a:off x="548640" y="2148840"/>
            <a:ext cx="1889699" cy="3063240"/>
          </a:xfrm>
          <a:prstGeom prst="roundRect">
            <a:avLst>
              <a:gd name="adj" fmla="val 5807"/>
            </a:avLst>
          </a:prstGeom>
          <a:solidFill>
            <a:schemeClr val="bg1"/>
          </a:solidFill>
          <a:ln/>
          <a:effectLst>
            <a:outerShdw sx="100000" sy="100000" kx="0" ky="0" algn="bl" rotWithShape="0" blurRad="127000" dist="38100" dir="5400000">
              <a:srgbClr val="173D2E">
                <a:alpha val="14000"/>
              </a:srgbClr>
            </a:outerShdw>
          </a:effectLst>
        </p:spPr>
      </p:sp>
      <p:sp>
        <p:nvSpPr>
          <p:cNvPr id="5" name="Step 1 number"/>
          <p:cNvSpPr/>
          <p:nvPr/>
        </p:nvSpPr>
        <p:spPr>
          <a:xfrm>
            <a:off x="777240" y="237744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Map text"/>
          <p:cNvSpPr txBox="1"/>
          <p:nvPr/>
        </p:nvSpPr>
        <p:spPr>
          <a:xfrm>
            <a:off x="777240" y="3063240"/>
            <a:ext cx="1432499" cy="20116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mj-lt" pitchFamily="34" charset="0"/>
                <a:ea typeface="+mj-lt" pitchFamily="34" charset="-122"/>
                <a:cs typeface="+mj-lt" pitchFamily="34" charset="-120"/>
              </a:rPr>
              <a:t>Map</a:t>
            </a:r>
            <a:endParaRPr lang="en-US" sz="2000" dirty="0"/>
          </a:p>
          <a:p>
            <a:pPr indent="0" marL="0">
              <a:spcAft>
                <a:spcPts val="800"/>
              </a:spcAft>
              <a:buNone/>
            </a:pPr>
            <a:r>
              <a:rPr lang="en-US" sz="1400" dirty="0">
                <a:solidFill>
                  <a:schemeClr val="tx2"/>
                </a:solidFill>
              </a:rPr>
              <a:t>Streets and buildings from OpenStreetMap. Shade from the real sun position at 4 times of day.</a:t>
            </a:r>
            <a:endParaRPr lang="en-US" sz="2000" dirty="0"/>
          </a:p>
        </p:txBody>
      </p:sp>
      <p:sp>
        <p:nvSpPr>
          <p:cNvPr id="7" name="Arrow 1"/>
          <p:cNvSpPr/>
          <p:nvPr/>
        </p:nvSpPr>
        <p:spPr>
          <a:xfrm>
            <a:off x="2511491" y="3547872"/>
            <a:ext cx="265176" cy="274320"/>
          </a:xfrm>
          <a:prstGeom prst="rightArrow">
            <a:avLst/>
          </a:prstGeom>
          <a:solidFill>
            <a:schemeClr val="accent1"/>
          </a:solidFill>
          <a:ln/>
        </p:spPr>
      </p:sp>
      <p:sp>
        <p:nvSpPr>
          <p:cNvPr id="8" name="Walks card"/>
          <p:cNvSpPr/>
          <p:nvPr/>
        </p:nvSpPr>
        <p:spPr>
          <a:xfrm>
            <a:off x="2849819" y="2148840"/>
            <a:ext cx="1889699" cy="3063240"/>
          </a:xfrm>
          <a:prstGeom prst="roundRect">
            <a:avLst>
              <a:gd name="adj" fmla="val 5807"/>
            </a:avLst>
          </a:prstGeom>
          <a:solidFill>
            <a:schemeClr val="bg1"/>
          </a:solidFill>
          <a:ln/>
          <a:effectLst>
            <a:outerShdw sx="100000" sy="100000" kx="0" ky="0" algn="bl" rotWithShape="0" blurRad="127000" dist="38100" dir="5400000">
              <a:srgbClr val="173D2E">
                <a:alpha val="14000"/>
              </a:srgbClr>
            </a:outerShdw>
          </a:effectLst>
        </p:spPr>
      </p:sp>
      <p:sp>
        <p:nvSpPr>
          <p:cNvPr id="9" name="Step 2 number"/>
          <p:cNvSpPr/>
          <p:nvPr/>
        </p:nvSpPr>
        <p:spPr>
          <a:xfrm>
            <a:off x="3078419" y="237744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Walks text"/>
          <p:cNvSpPr txBox="1"/>
          <p:nvPr/>
        </p:nvSpPr>
        <p:spPr>
          <a:xfrm>
            <a:off x="3078419" y="3063240"/>
            <a:ext cx="1432499" cy="20116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mj-lt" pitchFamily="34" charset="0"/>
                <a:ea typeface="+mj-lt" pitchFamily="34" charset="-122"/>
                <a:cs typeface="+mj-lt" pitchFamily="34" charset="-120"/>
              </a:rPr>
              <a:t>Walks</a:t>
            </a:r>
            <a:endParaRPr lang="en-US" sz="2000" dirty="0"/>
          </a:p>
          <a:p>
            <a:pPr indent="0" marL="0">
              <a:spcAft>
                <a:spcPts val="800"/>
              </a:spcAft>
              <a:buNone/>
            </a:pPr>
            <a:r>
              <a:rPr lang="en-US" sz="1400" dirty="0">
                <a:solidFill>
                  <a:schemeClr val="tx2"/>
                </a:solidFill>
              </a:rPr>
              <a:t>Stations and bus stops to shops, school and clinic. Scaled to real ticket-gate counts.</a:t>
            </a:r>
            <a:endParaRPr lang="en-US" sz="2000" dirty="0"/>
          </a:p>
        </p:txBody>
      </p:sp>
      <p:sp>
        <p:nvSpPr>
          <p:cNvPr id="11" name="Arrow 2"/>
          <p:cNvSpPr/>
          <p:nvPr/>
        </p:nvSpPr>
        <p:spPr>
          <a:xfrm>
            <a:off x="4812670" y="3547872"/>
            <a:ext cx="265176" cy="274320"/>
          </a:xfrm>
          <a:prstGeom prst="rightArrow">
            <a:avLst/>
          </a:prstGeom>
          <a:solidFill>
            <a:schemeClr val="accent1"/>
          </a:solidFill>
          <a:ln/>
        </p:spPr>
      </p:sp>
      <p:sp>
        <p:nvSpPr>
          <p:cNvPr id="12" name="Options card"/>
          <p:cNvSpPr/>
          <p:nvPr/>
        </p:nvSpPr>
        <p:spPr>
          <a:xfrm>
            <a:off x="5150998" y="2148840"/>
            <a:ext cx="1889699" cy="3063240"/>
          </a:xfrm>
          <a:prstGeom prst="roundRect">
            <a:avLst>
              <a:gd name="adj" fmla="val 5807"/>
            </a:avLst>
          </a:prstGeom>
          <a:solidFill>
            <a:schemeClr val="bg1"/>
          </a:solidFill>
          <a:ln/>
          <a:effectLst>
            <a:outerShdw sx="100000" sy="100000" kx="0" ky="0" algn="bl" rotWithShape="0" blurRad="127000" dist="38100" dir="5400000">
              <a:srgbClr val="173D2E">
                <a:alpha val="14000"/>
              </a:srgbClr>
            </a:outerShdw>
          </a:effectLst>
        </p:spPr>
      </p:sp>
      <p:sp>
        <p:nvSpPr>
          <p:cNvPr id="13" name="Step 3 number"/>
          <p:cNvSpPr/>
          <p:nvPr/>
        </p:nvSpPr>
        <p:spPr>
          <a:xfrm>
            <a:off x="5379598" y="237744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Options text"/>
          <p:cNvSpPr txBox="1"/>
          <p:nvPr/>
        </p:nvSpPr>
        <p:spPr>
          <a:xfrm>
            <a:off x="5379598" y="3063240"/>
            <a:ext cx="1432499" cy="20116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mj-lt" pitchFamily="34" charset="0"/>
                <a:ea typeface="+mj-lt" pitchFamily="34" charset="-122"/>
                <a:cs typeface="+mj-lt" pitchFamily="34" charset="-120"/>
              </a:rPr>
              <a:t>Options</a:t>
            </a:r>
            <a:endParaRPr lang="en-US" sz="2000" dirty="0"/>
          </a:p>
          <a:p>
            <a:pPr indent="0" marL="0">
              <a:spcAft>
                <a:spcPts val="800"/>
              </a:spcAft>
              <a:buNone/>
            </a:pPr>
            <a:r>
              <a:rPr lang="en-US" sz="1400" dirty="0">
                <a:solidFill>
                  <a:schemeClr val="tx2"/>
                </a:solidFill>
              </a:rPr>
              <a:t>Tree rows and covered walkways on exposed gaps, priced from unit costs.</a:t>
            </a:r>
            <a:endParaRPr lang="en-US" sz="2000" dirty="0"/>
          </a:p>
        </p:txBody>
      </p:sp>
      <p:sp>
        <p:nvSpPr>
          <p:cNvPr id="15" name="Arrow 3"/>
          <p:cNvSpPr/>
          <p:nvPr/>
        </p:nvSpPr>
        <p:spPr>
          <a:xfrm>
            <a:off x="7113849" y="3547872"/>
            <a:ext cx="265176" cy="274320"/>
          </a:xfrm>
          <a:prstGeom prst="rightArrow">
            <a:avLst/>
          </a:prstGeom>
          <a:solidFill>
            <a:schemeClr val="accent1"/>
          </a:solidFill>
          <a:ln/>
        </p:spPr>
      </p:sp>
      <p:sp>
        <p:nvSpPr>
          <p:cNvPr id="16" name="Optimise card"/>
          <p:cNvSpPr/>
          <p:nvPr/>
        </p:nvSpPr>
        <p:spPr>
          <a:xfrm>
            <a:off x="7452177" y="2148840"/>
            <a:ext cx="1889699" cy="3063240"/>
          </a:xfrm>
          <a:prstGeom prst="roundRect">
            <a:avLst>
              <a:gd name="adj" fmla="val 5807"/>
            </a:avLst>
          </a:prstGeom>
          <a:solidFill>
            <a:schemeClr val="tx1"/>
          </a:solidFill>
          <a:ln/>
          <a:effectLst>
            <a:outerShdw sx="100000" sy="100000" kx="0" ky="0" algn="bl" rotWithShape="0" blurRad="127000" dist="38100" dir="5400000">
              <a:srgbClr val="173D2E">
                <a:alpha val="14000"/>
              </a:srgbClr>
            </a:outerShdw>
          </a:effectLst>
        </p:spPr>
      </p:sp>
      <p:sp>
        <p:nvSpPr>
          <p:cNvPr id="17" name="Step 4 number"/>
          <p:cNvSpPr/>
          <p:nvPr/>
        </p:nvSpPr>
        <p:spPr>
          <a:xfrm>
            <a:off x="7680777" y="237744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Optimise text"/>
          <p:cNvSpPr txBox="1"/>
          <p:nvPr/>
        </p:nvSpPr>
        <p:spPr>
          <a:xfrm>
            <a:off x="7680777" y="3063240"/>
            <a:ext cx="1432499" cy="2011680"/>
          </a:xfrm>
          <a:prstGeom prst="rect">
            <a:avLst/>
          </a:prstGeom>
          <a:noFill/>
          <a:ln/>
        </p:spPr>
        <p:txBody>
          <a:bodyPr wrap="square" lIns="0" tIns="0" rIns="0" bIns="0" rtlCol="0" anchor="t"/>
          <a:lstStyle/>
          <a:p>
            <a:pPr indent="0" marL="0">
              <a:spcAft>
                <a:spcPts val="800"/>
              </a:spcAft>
              <a:buNone/>
            </a:pPr>
            <a:r>
              <a:rPr lang="en-US" sz="2000" b="1" dirty="0">
                <a:solidFill>
                  <a:schemeClr val="bg2"/>
                </a:solidFill>
                <a:latin typeface="+mj-lt" pitchFamily="34" charset="0"/>
                <a:ea typeface="+mj-lt" pitchFamily="34" charset="-122"/>
                <a:cs typeface="+mj-lt" pitchFamily="34" charset="-120"/>
              </a:rPr>
              <a:t>Optimise</a:t>
            </a:r>
            <a:endParaRPr lang="en-US" sz="2000" dirty="0"/>
          </a:p>
          <a:p>
            <a:pPr indent="0" marL="0">
              <a:spcAft>
                <a:spcPts val="800"/>
              </a:spcAft>
              <a:buNone/>
            </a:pPr>
            <a:r>
              <a:rPr lang="en-US" sz="1400" dirty="0">
                <a:solidFill>
                  <a:schemeClr val="accent4"/>
                </a:solidFill>
              </a:rPr>
              <a:t>Tries every affordable combination (up to 4,096) in under a second.</a:t>
            </a:r>
            <a:endParaRPr lang="en-US" sz="2000" dirty="0"/>
          </a:p>
        </p:txBody>
      </p:sp>
      <p:sp>
        <p:nvSpPr>
          <p:cNvPr id="19" name="Arrow 4"/>
          <p:cNvSpPr/>
          <p:nvPr/>
        </p:nvSpPr>
        <p:spPr>
          <a:xfrm>
            <a:off x="9415028" y="3547872"/>
            <a:ext cx="265176" cy="274320"/>
          </a:xfrm>
          <a:prstGeom prst="rightArrow">
            <a:avLst/>
          </a:prstGeom>
          <a:solidFill>
            <a:schemeClr val="accent1"/>
          </a:solidFill>
          <a:ln/>
        </p:spPr>
      </p:sp>
      <p:sp>
        <p:nvSpPr>
          <p:cNvPr id="20" name="Hand off card"/>
          <p:cNvSpPr/>
          <p:nvPr/>
        </p:nvSpPr>
        <p:spPr>
          <a:xfrm>
            <a:off x="9753356" y="2148840"/>
            <a:ext cx="1889699" cy="3063240"/>
          </a:xfrm>
          <a:prstGeom prst="roundRect">
            <a:avLst>
              <a:gd name="adj" fmla="val 5807"/>
            </a:avLst>
          </a:prstGeom>
          <a:solidFill>
            <a:schemeClr val="bg1"/>
          </a:solidFill>
          <a:ln/>
          <a:effectLst>
            <a:outerShdw sx="100000" sy="100000" kx="0" ky="0" algn="bl" rotWithShape="0" blurRad="127000" dist="38100" dir="5400000">
              <a:srgbClr val="173D2E">
                <a:alpha val="14000"/>
              </a:srgbClr>
            </a:outerShdw>
          </a:effectLst>
        </p:spPr>
      </p:sp>
      <p:sp>
        <p:nvSpPr>
          <p:cNvPr id="21" name="Step 5 number"/>
          <p:cNvSpPr/>
          <p:nvPr/>
        </p:nvSpPr>
        <p:spPr>
          <a:xfrm>
            <a:off x="9981956" y="237744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2" name="Hand off text"/>
          <p:cNvSpPr txBox="1"/>
          <p:nvPr/>
        </p:nvSpPr>
        <p:spPr>
          <a:xfrm>
            <a:off x="9981956" y="3063240"/>
            <a:ext cx="1432499" cy="20116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mj-lt" pitchFamily="34" charset="0"/>
                <a:ea typeface="+mj-lt" pitchFamily="34" charset="-122"/>
                <a:cs typeface="+mj-lt" pitchFamily="34" charset="-120"/>
              </a:rPr>
              <a:t>Hand off</a:t>
            </a:r>
            <a:endParaRPr lang="en-US" sz="2000" dirty="0"/>
          </a:p>
          <a:p>
            <a:pPr indent="0" marL="0">
              <a:spcAft>
                <a:spcPts val="800"/>
              </a:spcAft>
              <a:buNone/>
            </a:pPr>
            <a:r>
              <a:rPr lang="en-US" sz="1400" dirty="0">
                <a:solidFill>
                  <a:schemeClr val="tx2"/>
                </a:solidFill>
              </a:rPr>
              <a:t>Spec pack, bill of materials, CSV. Field photos update shade after a person confirms.</a:t>
            </a:r>
            <a:endParaRPr lang="en-US" sz="2000" dirty="0"/>
          </a:p>
        </p:txBody>
      </p:sp>
      <p:sp>
        <p:nvSpPr>
          <p:cNvPr id="23" name="Footer note"/>
          <p:cNvSpPr txBox="1"/>
          <p:nvPr/>
        </p:nvSpPr>
        <p:spPr>
          <a:xfrm>
            <a:off x="548640" y="6236208"/>
            <a:ext cx="10362895" cy="320040"/>
          </a:xfrm>
          <a:prstGeom prst="rect">
            <a:avLst/>
          </a:prstGeom>
          <a:noFill/>
          <a:ln/>
        </p:spPr>
        <p:txBody>
          <a:bodyPr wrap="square" lIns="0" tIns="0" rIns="0" bIns="0" rtlCol="0" anchor="ctr"/>
          <a:lstStyle/>
          <a:p>
            <a:pPr indent="0" marL="0">
              <a:buNone/>
            </a:pPr>
            <a:r>
              <a:rPr lang="en-US" sz="1100" dirty="0">
                <a:solidFill>
                  <a:schemeClr val="tx2"/>
                </a:solidFill>
              </a:rPr>
              <a:t>Score = pedestrian-hours in direct sun avoided per day, weighted by how many people make each walk. The maths is inspectable: no black box.</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1"/>
                </a:solidFill>
              </a:rPr>
              <a:t>IMPACT (SS 15 DEMO SCENARIO)</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bg2"/>
                </a:solidFill>
              </a:rPr>
              <a:t>One well-placed walkway does most of the work</a:t>
            </a:r>
            <a:endParaRPr lang="en-US" sz="3400" dirty="0"/>
          </a:p>
        </p:txBody>
      </p:sp>
      <p:sp>
        <p:nvSpPr>
          <p:cNvPr id="4" name="Impact 1"/>
          <p:cNvSpPr txBox="1"/>
          <p:nvPr/>
        </p:nvSpPr>
        <p:spPr>
          <a:xfrm>
            <a:off x="548640" y="2240280"/>
            <a:ext cx="3454298" cy="3291840"/>
          </a:xfrm>
          <a:prstGeom prst="rect">
            <a:avLst/>
          </a:prstGeom>
          <a:noFill/>
          <a:ln/>
        </p:spPr>
        <p:txBody>
          <a:bodyPr wrap="square" lIns="0" tIns="0" rIns="0" bIns="0" rtlCol="0" anchor="t"/>
          <a:lstStyle/>
          <a:p>
            <a:pPr indent="0" marL="0">
              <a:spcAft>
                <a:spcPts val="800"/>
              </a:spcAft>
              <a:buNone/>
            </a:pPr>
            <a:r>
              <a:rPr lang="en-US" sz="7200" b="1" dirty="0">
                <a:solidFill>
                  <a:schemeClr val="accent1"/>
                </a:solidFill>
                <a:latin typeface="+mj-lt" pitchFamily="34" charset="0"/>
                <a:ea typeface="+mj-lt" pitchFamily="34" charset="-122"/>
                <a:cs typeface="+mj-lt" pitchFamily="34" charset="-120"/>
              </a:rPr>
              <a:t>12.7</a:t>
            </a:r>
            <a:endParaRPr lang="en-US" sz="7200" dirty="0"/>
          </a:p>
          <a:p>
            <a:pPr indent="0" marL="0">
              <a:spcAft>
                <a:spcPts val="800"/>
              </a:spcAft>
              <a:buNone/>
            </a:pPr>
            <a:r>
              <a:rPr lang="en-US" sz="1700" dirty="0">
                <a:solidFill>
                  <a:schemeClr val="bg2"/>
                </a:solidFill>
              </a:rPr>
              <a:t>pedestrian-hours a day out of direct sun, for RM 94,100 (1 walkway + 17 trees)</a:t>
            </a:r>
            <a:endParaRPr lang="en-US" sz="7200" dirty="0"/>
          </a:p>
        </p:txBody>
      </p:sp>
      <p:sp>
        <p:nvSpPr>
          <p:cNvPr id="5" name="Impact 2"/>
          <p:cNvSpPr txBox="1"/>
          <p:nvPr/>
        </p:nvSpPr>
        <p:spPr>
          <a:xfrm>
            <a:off x="4368698" y="2240280"/>
            <a:ext cx="3454298" cy="3291840"/>
          </a:xfrm>
          <a:prstGeom prst="rect">
            <a:avLst/>
          </a:prstGeom>
          <a:noFill/>
          <a:ln/>
        </p:spPr>
        <p:txBody>
          <a:bodyPr wrap="square" lIns="0" tIns="0" rIns="0" bIns="0" rtlCol="0" anchor="t"/>
          <a:lstStyle/>
          <a:p>
            <a:pPr indent="0" marL="0">
              <a:spcAft>
                <a:spcPts val="800"/>
              </a:spcAft>
              <a:buNone/>
            </a:pPr>
            <a:r>
              <a:rPr lang="en-US" sz="7200" b="1" dirty="0">
                <a:solidFill>
                  <a:schemeClr val="accent1"/>
                </a:solidFill>
                <a:latin typeface="+mj-lt" pitchFamily="34" charset="0"/>
                <a:ea typeface="+mj-lt" pitchFamily="34" charset="-122"/>
                <a:cs typeface="+mj-lt" pitchFamily="34" charset="-120"/>
              </a:rPr>
              <a:t>149 m</a:t>
            </a:r>
            <a:endParaRPr lang="en-US" sz="7200" dirty="0"/>
          </a:p>
          <a:p>
            <a:pPr indent="0" marL="0">
              <a:spcAft>
                <a:spcPts val="800"/>
              </a:spcAft>
              <a:buNone/>
            </a:pPr>
            <a:r>
              <a:rPr lang="en-US" sz="1700" dirty="0">
                <a:solidFill>
                  <a:schemeClr val="bg2"/>
                </a:solidFill>
              </a:rPr>
              <a:t>longest sunny stretch on the station-to-mall walk, down from 218 m; 5 of 10 modelled walks improve</a:t>
            </a:r>
            <a:endParaRPr lang="en-US" sz="7200" dirty="0"/>
          </a:p>
        </p:txBody>
      </p:sp>
      <p:sp>
        <p:nvSpPr>
          <p:cNvPr id="6" name="Impact 3"/>
          <p:cNvSpPr txBox="1"/>
          <p:nvPr/>
        </p:nvSpPr>
        <p:spPr>
          <a:xfrm>
            <a:off x="8188757" y="2240280"/>
            <a:ext cx="3454298" cy="3291840"/>
          </a:xfrm>
          <a:prstGeom prst="rect">
            <a:avLst/>
          </a:prstGeom>
          <a:noFill/>
          <a:ln/>
        </p:spPr>
        <p:txBody>
          <a:bodyPr wrap="square" lIns="0" tIns="0" rIns="0" bIns="0" rtlCol="0" anchor="t"/>
          <a:lstStyle/>
          <a:p>
            <a:pPr indent="0" marL="0">
              <a:spcAft>
                <a:spcPts val="800"/>
              </a:spcAft>
              <a:buNone/>
            </a:pPr>
            <a:r>
              <a:rPr lang="en-US" sz="7200" b="1" dirty="0">
                <a:solidFill>
                  <a:schemeClr val="accent4"/>
                </a:solidFill>
                <a:latin typeface="+mj-lt" pitchFamily="34" charset="0"/>
                <a:ea typeface="+mj-lt" pitchFamily="34" charset="-122"/>
                <a:cs typeface="+mj-lt" pitchFamily="34" charset="-120"/>
              </a:rPr>
              <a:t>26.5</a:t>
            </a:r>
            <a:endParaRPr lang="en-US" sz="7200" dirty="0"/>
          </a:p>
          <a:p>
            <a:pPr indent="0" marL="0">
              <a:spcAft>
                <a:spcPts val="800"/>
              </a:spcAft>
              <a:buNone/>
            </a:pPr>
            <a:r>
              <a:rPr lang="en-US" sz="1700" dirty="0">
                <a:solidFill>
                  <a:schemeClr val="bg2"/>
                </a:solidFill>
              </a:rPr>
              <a:t>pedestrian-hours a day by year 10 from 58 trees alone, for RM 51,700, if they mature as modelled</a:t>
            </a:r>
            <a:endParaRPr lang="en-US" sz="7200" dirty="0"/>
          </a:p>
        </p:txBody>
      </p:sp>
      <p:sp>
        <p:nvSpPr>
          <p:cNvPr id="7" name="Footer note"/>
          <p:cNvSpPr txBox="1"/>
          <p:nvPr/>
        </p:nvSpPr>
        <p:spPr>
          <a:xfrm>
            <a:off x="548640" y="6236208"/>
            <a:ext cx="10362895" cy="320040"/>
          </a:xfrm>
          <a:prstGeom prst="rect">
            <a:avLst/>
          </a:prstGeom>
          <a:noFill/>
          <a:ln/>
        </p:spPr>
        <p:txBody>
          <a:bodyPr wrap="square" lIns="0" tIns="0" rIns="0" bIns="0" rtlCol="0" anchor="ctr"/>
          <a:lstStyle/>
          <a:p>
            <a:pPr indent="0" marL="0">
              <a:buNone/>
            </a:pPr>
            <a:r>
              <a:rPr lang="en-US" sz="1100" dirty="0">
                <a:solidFill>
                  <a:schemeClr val="accent4"/>
                </a:solidFill>
              </a:rPr>
              <a:t>All figures are model estimates from the prototype, not measurements. Shade is not the same as comfort or safety. A pilot measures the real effect.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INNOVATION</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Routing apps help a walker. Teduh helps a township build.</a:t>
            </a:r>
            <a:endParaRPr lang="en-US" sz="3400" dirty="0"/>
          </a:p>
        </p:txBody>
      </p:sp>
      <p:graphicFrame>
        <p:nvGraphicFramePr>
          <p:cNvPr id="9" name="Comparison"/>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2011680"/>
                <a:gridCol w="4023360"/>
                <a:gridCol w="5059375"/>
              </a:tblGrid>
              <a:tr h="0">
                <a:tc>
                  <a:txBody>
                    <a:bodyPr/>
                    <a:lstStyle/>
                    <a:p>
                      <a:pPr indent="0" marL="0">
                        <a:buNone/>
                      </a:pPr>
                      <a:r>
                        <a:rPr lang="en-US" sz="1700" b="1" dirty="0">
                          <a:solidFill>
                            <a:srgbClr val="F7F3E8"/>
                          </a:solidFill>
                        </a:rPr>
                        <a:t> </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c>
                  <a:txBody>
                    <a:bodyPr/>
                    <a:lstStyle/>
                    <a:p>
                      <a:pPr indent="0" marL="0">
                        <a:buNone/>
                      </a:pPr>
                      <a:r>
                        <a:rPr lang="en-US" sz="1700" b="1" dirty="0">
                          <a:solidFill>
                            <a:srgbClr val="F7F3E8"/>
                          </a:solidFill>
                        </a:rPr>
                        <a:t>Shade-aware routing (e.g. Undercover, Singapore)</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c>
                  <a:txBody>
                    <a:bodyPr/>
                    <a:lstStyle/>
                    <a:p>
                      <a:pPr indent="0" marL="0">
                        <a:buNone/>
                      </a:pPr>
                      <a:r>
                        <a:rPr lang="en-US" sz="1700" b="1" dirty="0">
                          <a:solidFill>
                            <a:srgbClr val="E3A33B"/>
                          </a:solidFill>
                        </a:rPr>
                        <a:t>Teduh</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r>
              <a:tr h="0">
                <a:tc>
                  <a:txBody>
                    <a:bodyPr/>
                    <a:lstStyle/>
                    <a:p>
                      <a:pPr indent="0" marL="0">
                        <a:buNone/>
                      </a:pPr>
                      <a:r>
                        <a:rPr lang="en-US" sz="1700" b="1" dirty="0">
                          <a:solidFill>
                            <a:srgbClr val="173D2E"/>
                          </a:solidFill>
                        </a:rPr>
                        <a:t>Question</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c>
                  <a:txBody>
                    <a:bodyPr/>
                    <a:lstStyle/>
                    <a:p>
                      <a:pPr indent="0" marL="0">
                        <a:buNone/>
                      </a:pPr>
                      <a:r>
                        <a:rPr lang="en-US" sz="1700" dirty="0">
                          <a:solidFill>
                            <a:srgbClr val="173D2E"/>
                          </a:solidFill>
                        </a:rPr>
                        <a:t>Which way should I walk?</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c>
                  <a:txBody>
                    <a:bodyPr/>
                    <a:lstStyle/>
                    <a:p>
                      <a:pPr indent="0" marL="0">
                        <a:buNone/>
                      </a:pPr>
                      <a:r>
                        <a:rPr lang="en-US" sz="1700" dirty="0">
                          <a:solidFill>
                            <a:srgbClr val="173D2E"/>
                          </a:solidFill>
                        </a:rPr>
                        <a:t>Where should we build shade first?</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r>
              <a:tr h="0">
                <a:tc>
                  <a:txBody>
                    <a:bodyPr/>
                    <a:lstStyle/>
                    <a:p>
                      <a:pPr indent="0" marL="0">
                        <a:buNone/>
                      </a:pPr>
                      <a:r>
                        <a:rPr lang="en-US" sz="1700" b="1" dirty="0">
                          <a:solidFill>
                            <a:srgbClr val="173D2E"/>
                          </a:solidFill>
                        </a:rPr>
                        <a:t>Money</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1EADA"/>
                    </a:solidFill>
                  </a:tcPr>
                </a:tc>
                <a:tc>
                  <a:txBody>
                    <a:bodyPr/>
                    <a:lstStyle/>
                    <a:p>
                      <a:pPr indent="0" marL="0">
                        <a:buNone/>
                      </a:pPr>
                      <a:r>
                        <a:rPr lang="en-US" sz="1700" dirty="0">
                          <a:solidFill>
                            <a:srgbClr val="173D2E"/>
                          </a:solidFill>
                        </a:rPr>
                        <a:t>Not the focus</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1EADA"/>
                    </a:solidFill>
                  </a:tcPr>
                </a:tc>
                <a:tc>
                  <a:txBody>
                    <a:bodyPr/>
                    <a:lstStyle/>
                    <a:p>
                      <a:pPr indent="0" marL="0">
                        <a:buNone/>
                      </a:pPr>
                      <a:r>
                        <a:rPr lang="en-US" sz="1700" dirty="0">
                          <a:solidFill>
                            <a:srgbClr val="173D2E"/>
                          </a:solidFill>
                        </a:rPr>
                        <a:t>Every option priced: install and upkeep, within a budget</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1EADA"/>
                    </a:solidFill>
                  </a:tcPr>
                </a:tc>
              </a:tr>
              <a:tr h="0">
                <a:tc>
                  <a:txBody>
                    <a:bodyPr/>
                    <a:lstStyle/>
                    <a:p>
                      <a:pPr indent="0" marL="0">
                        <a:buNone/>
                      </a:pPr>
                      <a:r>
                        <a:rPr lang="en-US" sz="1700" b="1" dirty="0">
                          <a:solidFill>
                            <a:srgbClr val="173D2E"/>
                          </a:solidFill>
                        </a:rPr>
                        <a:t>Time</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c>
                  <a:txBody>
                    <a:bodyPr/>
                    <a:lstStyle/>
                    <a:p>
                      <a:pPr indent="0" marL="0">
                        <a:buNone/>
                      </a:pPr>
                      <a:r>
                        <a:rPr lang="en-US" sz="1700" dirty="0">
                          <a:solidFill>
                            <a:srgbClr val="173D2E"/>
                          </a:solidFill>
                        </a:rPr>
                        <a:t>Not the focus</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c>
                  <a:txBody>
                    <a:bodyPr/>
                    <a:lstStyle/>
                    <a:p>
                      <a:pPr indent="0" marL="0">
                        <a:buNone/>
                      </a:pPr>
                      <a:r>
                        <a:rPr lang="en-US" sz="1700" dirty="0">
                          <a:solidFill>
                            <a:srgbClr val="173D2E"/>
                          </a:solidFill>
                        </a:rPr>
                        <a:t>4 times of day, and trees growing over 10 years</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r>
              <a:tr h="0">
                <a:tc>
                  <a:txBody>
                    <a:bodyPr/>
                    <a:lstStyle/>
                    <a:p>
                      <a:pPr indent="0" marL="0">
                        <a:buNone/>
                      </a:pPr>
                      <a:r>
                        <a:rPr lang="en-US" sz="1700" b="1" dirty="0">
                          <a:solidFill>
                            <a:srgbClr val="173D2E"/>
                          </a:solidFill>
                        </a:rPr>
                        <a:t>Output</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1EADA"/>
                    </a:solidFill>
                  </a:tcPr>
                </a:tc>
                <a:tc>
                  <a:txBody>
                    <a:bodyPr/>
                    <a:lstStyle/>
                    <a:p>
                      <a:pPr indent="0" marL="0">
                        <a:buNone/>
                      </a:pPr>
                      <a:r>
                        <a:rPr lang="en-US" sz="1700" dirty="0">
                          <a:solidFill>
                            <a:srgbClr val="173D2E"/>
                          </a:solidFill>
                        </a:rPr>
                        <a:t>A route</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1EADA"/>
                    </a:solidFill>
                  </a:tcPr>
                </a:tc>
                <a:tc>
                  <a:txBody>
                    <a:bodyPr/>
                    <a:lstStyle/>
                    <a:p>
                      <a:pPr indent="0" marL="0">
                        <a:buNone/>
                      </a:pPr>
                      <a:r>
                        <a:rPr lang="en-US" sz="1700" dirty="0">
                          <a:solidFill>
                            <a:srgbClr val="173D2E"/>
                          </a:solidFill>
                        </a:rPr>
                        <a:t>A spec pack a contractor can quote from</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1EADA"/>
                    </a:solidFill>
                  </a:tcPr>
                </a:tc>
              </a:tr>
              <a:tr h="0">
                <a:tc>
                  <a:txBody>
                    <a:bodyPr/>
                    <a:lstStyle/>
                    <a:p>
                      <a:pPr indent="0" marL="0">
                        <a:buNone/>
                      </a:pPr>
                      <a:r>
                        <a:rPr lang="en-US" sz="1700" b="1" dirty="0">
                          <a:solidFill>
                            <a:srgbClr val="173D2E"/>
                          </a:solidFill>
                        </a:rPr>
                        <a:t>Field data</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c>
                  <a:txBody>
                    <a:bodyPr/>
                    <a:lstStyle/>
                    <a:p>
                      <a:pPr indent="0" marL="0">
                        <a:buNone/>
                      </a:pPr>
                      <a:r>
                        <a:rPr lang="en-US" sz="1700" dirty="0">
                          <a:solidFill>
                            <a:srgbClr val="173D2E"/>
                          </a:solidFill>
                        </a:rPr>
                        <a:t>Not the focus</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c>
                  <a:txBody>
                    <a:bodyPr/>
                    <a:lstStyle/>
                    <a:p>
                      <a:pPr indent="0" marL="0">
                        <a:buNone/>
                      </a:pPr>
                      <a:r>
                        <a:rPr lang="en-US" sz="1700" dirty="0">
                          <a:solidFill>
                            <a:srgbClr val="173D2E"/>
                          </a:solidFill>
                        </a:rPr>
                        <a:t>Photo → AI shade estimate → a person confirms</a:t>
                      </a:r>
                      <a:endParaRPr lang="en-US" sz="1700" dirty="0"/>
                    </a:p>
                  </a:txBody>
                  <a:tcPr marL="164592" marR="164592" marT="109728" marB="109728" anchor="ctr">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FFDF7"/>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FEASIBILITY</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It already runs, on any township</a:t>
            </a:r>
            <a:endParaRPr lang="en-US" sz="3400" dirty="0"/>
          </a:p>
        </p:txBody>
      </p:sp>
      <p:sp>
        <p:nvSpPr>
          <p:cNvPr id="4" name="Why it can ship"/>
          <p:cNvSpPr txBox="1"/>
          <p:nvPr/>
        </p:nvSpPr>
        <p:spPr>
          <a:xfrm>
            <a:off x="548640" y="2103120"/>
            <a:ext cx="4297680" cy="3840480"/>
          </a:xfrm>
          <a:prstGeom prst="rect">
            <a:avLst/>
          </a:prstGeom>
          <a:noFill/>
          <a:ln/>
        </p:spPr>
        <p:txBody>
          <a:bodyPr wrap="square" lIns="0" tIns="0" rIns="0" bIns="0" rtlCol="0" anchor="t"/>
          <a:lstStyle/>
          <a:p>
            <a:pPr indent="0" marL="0">
              <a:spcAft>
                <a:spcPts val="1400"/>
              </a:spcAft>
              <a:buNone/>
            </a:pPr>
            <a:r>
              <a:rPr lang="en-US" sz="1700" b="1" dirty="0">
                <a:solidFill>
                  <a:schemeClr val="tx1"/>
                </a:solidFill>
              </a:rPr>
              <a:t>15 Klang Valley areas built in,</a:t>
            </a:r>
            <a:pPr indent="0" marL="0">
              <a:spcAft>
                <a:spcPts val="1400"/>
              </a:spcAft>
              <a:buNone/>
            </a:pPr>
            <a:r>
              <a:rPr lang="en-US" sz="1700" dirty="0">
                <a:solidFill>
                  <a:schemeClr val="tx1"/>
                </a:solidFill>
              </a:rPr>
              <a:t> and any other place in about 40 seconds. Right: Ara Damansara.</a:t>
            </a:r>
            <a:endParaRPr lang="en-US" sz="1700" dirty="0"/>
          </a:p>
          <a:p>
            <a:pPr indent="0" marL="0">
              <a:spcAft>
                <a:spcPts val="1400"/>
              </a:spcAft>
              <a:buNone/>
            </a:pPr>
            <a:r>
              <a:rPr lang="en-US" sz="1700" b="1" dirty="0">
                <a:solidFill>
                  <a:schemeClr val="tx1"/>
                </a:solidFill>
              </a:rPr>
              <a:t>Open data only:</a:t>
            </a:r>
            <a:pPr indent="0" marL="0">
              <a:spcAft>
                <a:spcPts val="1400"/>
              </a:spcAft>
              <a:buNone/>
            </a:pPr>
            <a:r>
              <a:rPr lang="en-US" sz="1700" dirty="0">
                <a:solidFill>
                  <a:schemeClr val="tx1"/>
                </a:solidFill>
              </a:rPr>
              <a:t> OpenStreetMap and data.gov.my ridership. No sensors to install.</a:t>
            </a:r>
            <a:endParaRPr lang="en-US" sz="1700" dirty="0"/>
          </a:p>
          <a:p>
            <a:pPr indent="0" marL="0">
              <a:spcAft>
                <a:spcPts val="1400"/>
              </a:spcAft>
              <a:buNone/>
            </a:pPr>
            <a:r>
              <a:rPr lang="en-US" sz="1700" b="1" dirty="0">
                <a:solidFill>
                  <a:schemeClr val="tx1"/>
                </a:solidFill>
              </a:rPr>
              <a:t>AI runs on a laptop</a:t>
            </a:r>
            <a:pPr indent="0" marL="0">
              <a:spcAft>
                <a:spcPts val="1400"/>
              </a:spcAft>
              <a:buNone/>
            </a:pPr>
            <a:r>
              <a:rPr lang="en-US" sz="1700" dirty="0">
                <a:solidFill>
                  <a:schemeClr val="tx1"/>
                </a:solidFill>
              </a:rPr>
              <a:t> (an open vision model via Ollama), so photos stay local and cost nothing per call.</a:t>
            </a:r>
            <a:endParaRPr lang="en-US" sz="1700" dirty="0"/>
          </a:p>
          <a:p>
            <a:pPr indent="0" marL="0">
              <a:spcAft>
                <a:spcPts val="1400"/>
              </a:spcAft>
              <a:buNone/>
            </a:pPr>
            <a:r>
              <a:rPr lang="en-US" sz="1700" b="1" dirty="0">
                <a:solidFill>
                  <a:schemeClr val="tx1"/>
                </a:solidFill>
              </a:rPr>
              <a:t>515 automated tests.</a:t>
            </a:r>
            <a:pPr indent="0" marL="0">
              <a:spcAft>
                <a:spcPts val="1400"/>
              </a:spcAft>
              <a:buNone/>
            </a:pPr>
            <a:r>
              <a:rPr lang="en-US" sz="1700" dirty="0">
                <a:solidFill>
                  <a:schemeClr val="tx1"/>
                </a:solidFill>
              </a:rPr>
              <a:t> Unit costs are editable, so quotes replace estimates.</a:t>
            </a:r>
            <a:endParaRPr lang="en-US" sz="1700" dirty="0"/>
          </a:p>
        </p:txBody>
      </p:sp>
      <p:pic>
        <p:nvPicPr>
          <p:cNvPr id="5" name="Ara Damansara screenshot" descr="Teduh after looking up Ara Damansara live: streets, bus stops, schools and the shopping mall with a recommended plan">    </p:cNvPr>
          <p:cNvPicPr>
            <a:picLocks noChangeAspect="1"/>
          </p:cNvPicPr>
          <p:nvPr/>
        </p:nvPicPr>
        <p:blipFill>
          <a:blip r:embed="rId1"/>
          <a:stretch>
            <a:fillRect/>
          </a:stretch>
        </p:blipFill>
        <p:spPr>
          <a:xfrm>
            <a:off x="5120640" y="2057400"/>
            <a:ext cx="6519672" cy="407479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IMPLEMENTATION</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Pilot one SDP township, then scale to 28</a:t>
            </a:r>
            <a:endParaRPr lang="en-US" sz="3400" dirty="0"/>
          </a:p>
        </p:txBody>
      </p:sp>
      <p:sp>
        <p:nvSpPr>
          <p:cNvPr id="4" name="Survey card"/>
          <p:cNvSpPr/>
          <p:nvPr/>
        </p:nvSpPr>
        <p:spPr>
          <a:xfrm>
            <a:off x="548640" y="2011680"/>
            <a:ext cx="3515258" cy="1783080"/>
          </a:xfrm>
          <a:prstGeom prst="roundRect">
            <a:avLst>
              <a:gd name="adj" fmla="val 6154"/>
            </a:avLst>
          </a:prstGeom>
          <a:solidFill>
            <a:schemeClr val="bg1"/>
          </a:solidFill>
          <a:ln/>
          <a:effectLst>
            <a:outerShdw sx="100000" sy="100000" kx="0" ky="0" algn="bl" rotWithShape="0" blurRad="127000" dist="38100" dir="5400000">
              <a:srgbClr val="173D2E">
                <a:alpha val="14000"/>
              </a:srgbClr>
            </a:outerShdw>
          </a:effectLst>
        </p:spPr>
      </p:sp>
      <p:sp>
        <p:nvSpPr>
          <p:cNvPr id="5" name="Survey text"/>
          <p:cNvSpPr txBox="1"/>
          <p:nvPr/>
        </p:nvSpPr>
        <p:spPr>
          <a:xfrm>
            <a:off x="822960" y="2194560"/>
            <a:ext cx="2966618" cy="146304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MONTH 1</a:t>
            </a:r>
            <a:endParaRPr lang="en-US" sz="1300" dirty="0"/>
          </a:p>
          <a:p>
            <a:pPr indent="0" marL="0">
              <a:spcAft>
                <a:spcPts val="400"/>
              </a:spcAft>
              <a:buNone/>
            </a:pPr>
            <a:r>
              <a:rPr lang="en-US" sz="2200" b="1" dirty="0">
                <a:solidFill>
                  <a:schemeClr val="tx1"/>
                </a:solidFill>
                <a:latin typeface="+mj-lt" pitchFamily="34" charset="0"/>
                <a:ea typeface="+mj-lt" pitchFamily="34" charset="-122"/>
                <a:cs typeface="+mj-lt" pitchFamily="34" charset="-120"/>
              </a:rPr>
              <a:t>Survey</a:t>
            </a:r>
            <a:endParaRPr lang="en-US" sz="1300" dirty="0"/>
          </a:p>
          <a:p>
            <a:pPr indent="0" marL="0">
              <a:spcAft>
                <a:spcPts val="400"/>
              </a:spcAft>
              <a:buNone/>
            </a:pPr>
            <a:r>
              <a:rPr lang="en-US" sz="1500" dirty="0">
                <a:solidFill>
                  <a:schemeClr val="tx2"/>
                </a:solidFill>
              </a:rPr>
              <a:t>Map paths and shade at 4 times; photo-scan gaps; count walkers at the station and mall.</a:t>
            </a:r>
            <a:endParaRPr lang="en-US" sz="1300" dirty="0"/>
          </a:p>
        </p:txBody>
      </p:sp>
      <p:sp>
        <p:nvSpPr>
          <p:cNvPr id="6" name="Phase arrow 1"/>
          <p:cNvSpPr/>
          <p:nvPr/>
        </p:nvSpPr>
        <p:spPr>
          <a:xfrm>
            <a:off x="4091330" y="2779776"/>
            <a:ext cx="219456" cy="237744"/>
          </a:xfrm>
          <a:prstGeom prst="rightArrow">
            <a:avLst/>
          </a:prstGeom>
          <a:solidFill>
            <a:schemeClr val="accent1"/>
          </a:solidFill>
          <a:ln/>
        </p:spPr>
      </p:sp>
      <p:sp>
        <p:nvSpPr>
          <p:cNvPr id="7" name="Build card"/>
          <p:cNvSpPr/>
          <p:nvPr/>
        </p:nvSpPr>
        <p:spPr>
          <a:xfrm>
            <a:off x="4338218" y="2011680"/>
            <a:ext cx="3515258" cy="1783080"/>
          </a:xfrm>
          <a:prstGeom prst="roundRect">
            <a:avLst>
              <a:gd name="adj" fmla="val 6154"/>
            </a:avLst>
          </a:prstGeom>
          <a:solidFill>
            <a:schemeClr val="bg1"/>
          </a:solidFill>
          <a:ln/>
          <a:effectLst>
            <a:outerShdw sx="100000" sy="100000" kx="0" ky="0" algn="bl" rotWithShape="0" blurRad="127000" dist="38100" dir="5400000">
              <a:srgbClr val="173D2E">
                <a:alpha val="14000"/>
              </a:srgbClr>
            </a:outerShdw>
          </a:effectLst>
        </p:spPr>
      </p:sp>
      <p:sp>
        <p:nvSpPr>
          <p:cNvPr id="8" name="Build text"/>
          <p:cNvSpPr txBox="1"/>
          <p:nvPr/>
        </p:nvSpPr>
        <p:spPr>
          <a:xfrm>
            <a:off x="4612538" y="2194560"/>
            <a:ext cx="2966618" cy="146304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MONTHS 2–3</a:t>
            </a:r>
            <a:endParaRPr lang="en-US" sz="1300" dirty="0"/>
          </a:p>
          <a:p>
            <a:pPr indent="0" marL="0">
              <a:spcAft>
                <a:spcPts val="400"/>
              </a:spcAft>
              <a:buNone/>
            </a:pPr>
            <a:r>
              <a:rPr lang="en-US" sz="2200" b="1" dirty="0">
                <a:solidFill>
                  <a:schemeClr val="tx1"/>
                </a:solidFill>
                <a:latin typeface="+mj-lt" pitchFamily="34" charset="0"/>
                <a:ea typeface="+mj-lt" pitchFamily="34" charset="-122"/>
                <a:cs typeface="+mj-lt" pitchFamily="34" charset="-120"/>
              </a:rPr>
              <a:t>Build</a:t>
            </a:r>
            <a:endParaRPr lang="en-US" sz="1300" dirty="0"/>
          </a:p>
          <a:p>
            <a:pPr indent="0" marL="0">
              <a:spcAft>
                <a:spcPts val="400"/>
              </a:spcAft>
              <a:buNone/>
            </a:pPr>
            <a:r>
              <a:rPr lang="en-US" sz="1500" dirty="0">
                <a:solidFill>
                  <a:schemeClr val="tx2"/>
                </a:solidFill>
              </a:rPr>
              <a:t>One walkway and a few tree rows from the plan, with real contractor quotes.</a:t>
            </a:r>
            <a:endParaRPr lang="en-US" sz="1300" dirty="0"/>
          </a:p>
        </p:txBody>
      </p:sp>
      <p:sp>
        <p:nvSpPr>
          <p:cNvPr id="9" name="Phase arrow 2"/>
          <p:cNvSpPr/>
          <p:nvPr/>
        </p:nvSpPr>
        <p:spPr>
          <a:xfrm>
            <a:off x="7880909" y="2779776"/>
            <a:ext cx="219456" cy="237744"/>
          </a:xfrm>
          <a:prstGeom prst="rightArrow">
            <a:avLst/>
          </a:prstGeom>
          <a:solidFill>
            <a:schemeClr val="accent1"/>
          </a:solidFill>
          <a:ln/>
        </p:spPr>
      </p:sp>
      <p:sp>
        <p:nvSpPr>
          <p:cNvPr id="10" name="Measure card"/>
          <p:cNvSpPr/>
          <p:nvPr/>
        </p:nvSpPr>
        <p:spPr>
          <a:xfrm>
            <a:off x="8127797" y="2011680"/>
            <a:ext cx="3515258" cy="1783080"/>
          </a:xfrm>
          <a:prstGeom prst="roundRect">
            <a:avLst>
              <a:gd name="adj" fmla="val 6154"/>
            </a:avLst>
          </a:prstGeom>
          <a:solidFill>
            <a:schemeClr val="bg1"/>
          </a:solidFill>
          <a:ln/>
          <a:effectLst>
            <a:outerShdw sx="100000" sy="100000" kx="0" ky="0" algn="bl" rotWithShape="0" blurRad="127000" dist="38100" dir="5400000">
              <a:srgbClr val="173D2E">
                <a:alpha val="14000"/>
              </a:srgbClr>
            </a:outerShdw>
          </a:effectLst>
        </p:spPr>
      </p:sp>
      <p:sp>
        <p:nvSpPr>
          <p:cNvPr id="11" name="Measure text"/>
          <p:cNvSpPr txBox="1"/>
          <p:nvPr/>
        </p:nvSpPr>
        <p:spPr>
          <a:xfrm>
            <a:off x="8402117" y="2194560"/>
            <a:ext cx="2966618" cy="146304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MONTHS 4–6</a:t>
            </a:r>
            <a:endParaRPr lang="en-US" sz="1300" dirty="0"/>
          </a:p>
          <a:p>
            <a:pPr indent="0" marL="0">
              <a:spcAft>
                <a:spcPts val="400"/>
              </a:spcAft>
              <a:buNone/>
            </a:pPr>
            <a:r>
              <a:rPr lang="en-US" sz="2200" b="1" dirty="0">
                <a:solidFill>
                  <a:schemeClr val="tx1"/>
                </a:solidFill>
                <a:latin typeface="+mj-lt" pitchFamily="34" charset="0"/>
                <a:ea typeface="+mj-lt" pitchFamily="34" charset="-122"/>
                <a:cs typeface="+mj-lt" pitchFamily="34" charset="-120"/>
              </a:rPr>
              <a:t>Measure</a:t>
            </a:r>
            <a:endParaRPr lang="en-US" sz="1300" dirty="0"/>
          </a:p>
          <a:p>
            <a:pPr indent="0" marL="0">
              <a:spcAft>
                <a:spcPts val="400"/>
              </a:spcAft>
              <a:buNone/>
            </a:pPr>
            <a:r>
              <a:rPr lang="en-US" sz="1500" dirty="0">
                <a:solidFill>
                  <a:schemeClr val="tx2"/>
                </a:solidFill>
              </a:rPr>
              <a:t>Predicted vs observed shade, walker counts before and after, resident feedback.</a:t>
            </a:r>
            <a:endParaRPr lang="en-US" sz="1300" dirty="0"/>
          </a:p>
        </p:txBody>
      </p:sp>
      <p:sp>
        <p:nvSpPr>
          <p:cNvPr id="12" name="Strategy card"/>
          <p:cNvSpPr/>
          <p:nvPr/>
        </p:nvSpPr>
        <p:spPr>
          <a:xfrm>
            <a:off x="548640" y="4069080"/>
            <a:ext cx="6434761" cy="1325880"/>
          </a:xfrm>
          <a:prstGeom prst="roundRect">
            <a:avLst>
              <a:gd name="adj" fmla="val 8276"/>
            </a:avLst>
          </a:prstGeom>
          <a:solidFill>
            <a:schemeClr val="tx1"/>
          </a:solidFill>
          <a:ln/>
          <a:effectLst>
            <a:outerShdw sx="100000" sy="100000" kx="0" ky="0" algn="bl" rotWithShape="0" blurRad="127000" dist="38100" dir="5400000">
              <a:srgbClr val="173D2E">
                <a:alpha val="14000"/>
              </a:srgbClr>
            </a:outerShdw>
          </a:effectLst>
        </p:spPr>
      </p:sp>
      <p:sp>
        <p:nvSpPr>
          <p:cNvPr id="13" name="Strategy"/>
          <p:cNvSpPr txBox="1"/>
          <p:nvPr/>
        </p:nvSpPr>
        <p:spPr>
          <a:xfrm>
            <a:off x="822960" y="4251960"/>
            <a:ext cx="5886121" cy="1005840"/>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FITS SDP’S 2025–2030 STRATEGY</a:t>
            </a:r>
            <a:endParaRPr lang="en-US" sz="1300" dirty="0"/>
          </a:p>
          <a:p>
            <a:pPr indent="0" marL="0">
              <a:spcAft>
                <a:spcPts val="400"/>
              </a:spcAft>
              <a:buNone/>
            </a:pPr>
            <a:r>
              <a:rPr lang="en-US" sz="1600" dirty="0">
                <a:solidFill>
                  <a:schemeClr val="bg2"/>
                </a:solidFill>
              </a:rPr>
              <a:t>Climate resilience and urban biodiversity pillars: puts SDP’s tree planting where people walk, and shows the result.</a:t>
            </a:r>
            <a:endParaRPr lang="en-US" sz="1300" dirty="0"/>
          </a:p>
        </p:txBody>
      </p:sp>
      <p:sp>
        <p:nvSpPr>
          <p:cNvPr id="14" name="Ask card"/>
          <p:cNvSpPr/>
          <p:nvPr/>
        </p:nvSpPr>
        <p:spPr>
          <a:xfrm>
            <a:off x="7257721" y="4069080"/>
            <a:ext cx="4385334" cy="1325880"/>
          </a:xfrm>
          <a:prstGeom prst="roundRect">
            <a:avLst>
              <a:gd name="adj" fmla="val 8276"/>
            </a:avLst>
          </a:prstGeom>
          <a:solidFill>
            <a:schemeClr val="accent1"/>
          </a:solidFill>
          <a:ln/>
          <a:effectLst>
            <a:outerShdw sx="100000" sy="100000" kx="0" ky="0" algn="bl" rotWithShape="0" blurRad="127000" dist="38100" dir="5400000">
              <a:srgbClr val="173D2E">
                <a:alpha val="14000"/>
              </a:srgbClr>
            </a:outerShdw>
          </a:effectLst>
        </p:spPr>
      </p:sp>
      <p:sp>
        <p:nvSpPr>
          <p:cNvPr id="15" name="Ask"/>
          <p:cNvSpPr txBox="1"/>
          <p:nvPr/>
        </p:nvSpPr>
        <p:spPr>
          <a:xfrm>
            <a:off x="7532041" y="4251960"/>
            <a:ext cx="3836694" cy="100584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OUR ASK</a:t>
            </a:r>
            <a:endParaRPr lang="en-US" sz="1300" dirty="0"/>
          </a:p>
          <a:p>
            <a:pPr indent="0" marL="0">
              <a:spcAft>
                <a:spcPts val="400"/>
              </a:spcAft>
              <a:buNone/>
            </a:pPr>
            <a:r>
              <a:rPr lang="en-US" sz="1600" dirty="0">
                <a:solidFill>
                  <a:schemeClr val="tx1"/>
                </a:solidFill>
              </a:rPr>
              <a:t>One township, a landscape contact and a small budget line to build and measure.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1828800"/>
            <a:ext cx="11094415" cy="411480"/>
          </a:xfrm>
          <a:prstGeom prst="rect">
            <a:avLst/>
          </a:prstGeom>
          <a:noFill/>
          <a:ln/>
        </p:spPr>
        <p:txBody>
          <a:bodyPr wrap="square" lIns="0" tIns="0" rIns="0" bIns="0" rtlCol="0" anchor="ctr"/>
          <a:lstStyle/>
          <a:p>
            <a:pPr indent="0" marL="0">
              <a:buNone/>
            </a:pPr>
            <a:r>
              <a:rPr lang="en-US" sz="1600" b="1" spc="400" kern="0" dirty="0">
                <a:solidFill>
                  <a:schemeClr val="accent1"/>
                </a:solidFill>
              </a:rPr>
              <a:t>APPENDIX</a:t>
            </a:r>
            <a:endParaRPr lang="en-US" sz="1600" dirty="0"/>
          </a:p>
        </p:txBody>
      </p:sp>
      <p:sp>
        <p:nvSpPr>
          <p:cNvPr id="3" name="Divider title"/>
          <p:cNvSpPr txBox="1"/>
          <p:nvPr/>
        </p:nvSpPr>
        <p:spPr>
          <a:xfrm>
            <a:off x="548640" y="2331720"/>
            <a:ext cx="11094415" cy="1463040"/>
          </a:xfrm>
          <a:prstGeom prst="rect">
            <a:avLst/>
          </a:prstGeom>
          <a:noFill/>
          <a:ln/>
        </p:spPr>
        <p:txBody>
          <a:bodyPr wrap="square" lIns="0" tIns="0" rIns="0" bIns="0" rtlCol="0" anchor="ctr"/>
          <a:lstStyle/>
          <a:p>
            <a:pPr indent="0" marL="0">
              <a:buNone/>
            </a:pPr>
            <a:r>
              <a:rPr lang="en-US" sz="5400" b="1" dirty="0">
                <a:solidFill>
                  <a:schemeClr val="bg2"/>
                </a:solidFill>
                <a:latin typeface="+mj-lt" pitchFamily="34" charset="0"/>
                <a:ea typeface="+mj-lt" pitchFamily="34" charset="-122"/>
                <a:cs typeface="+mj-lt" pitchFamily="34" charset="-120"/>
              </a:rPr>
              <a:t>Timing, limits, screens and sources</a:t>
            </a:r>
            <a:endParaRPr lang="en-US" sz="5400" dirty="0"/>
          </a:p>
        </p:txBody>
      </p:sp>
      <p:sp>
        <p:nvSpPr>
          <p:cNvPr id="4" name="Divider text"/>
          <p:cNvSpPr txBox="1"/>
          <p:nvPr/>
        </p:nvSpPr>
        <p:spPr>
          <a:xfrm>
            <a:off x="548640" y="3931920"/>
            <a:ext cx="8229600" cy="914400"/>
          </a:xfrm>
          <a:prstGeom prst="rect">
            <a:avLst/>
          </a:prstGeom>
          <a:noFill/>
          <a:ln/>
        </p:spPr>
        <p:txBody>
          <a:bodyPr wrap="square" lIns="0" tIns="0" rIns="0" bIns="0" rtlCol="0" anchor="ctr"/>
          <a:lstStyle/>
          <a:p>
            <a:pPr indent="0" marL="0">
              <a:buNone/>
            </a:pPr>
            <a:r>
              <a:rPr lang="en-US" sz="1800" dirty="0">
                <a:solidFill>
                  <a:schemeClr val="accent4"/>
                </a:solidFill>
              </a:rPr>
              <a:t>The run order for the 5-minute pitch, what the model does not know yet, the other demo screens, and where every number comes from.</a:t>
            </a:r>
            <a:endParaRPr lang="en-US" sz="1800" dirty="0"/>
          </a:p>
        </p:txBody>
      </p:sp>
      <p:sp>
        <p:nvSpPr>
          <p:cNvPr id="6"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endParaRPr lang="en-US" sz="1200" dirty="0"/>
          </a:p>
        </p:txBody>
      </p:sp>
      <p:sp>
        <p:nvSpPr>
          <p:cNvPr id="7"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RUN ORDER</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Steven presents, Thien Gen demos</a:t>
            </a:r>
            <a:endParaRPr lang="en-US" sz="3400" dirty="0"/>
          </a:p>
        </p:txBody>
      </p:sp>
      <p:graphicFrame>
        <p:nvGraphicFramePr>
          <p:cNvPr id="13" name="Run order"/>
          <p:cNvGraphicFramePr>
            <a:graphicFrameLocks noGrp="1"/>
          </p:cNvGraphicFramePr>
          <p:nvPr>
            <p:extLst>
              <p:ext uri="{D42A27DB-BD31-4B8C-83A1-F6EECF244321}">
                <p14:modId xmlns:p14="http://schemas.microsoft.com/office/powerpoint/2010/main" val="1579011935"/>
              </p:ext>
            </p:extLst>
          </p:nvPr>
        </p:nvGraphicFramePr>
        <p:xfrm>
          <a:off x="548640" y="1965960"/>
          <a:ext cx="7680960" cy="914400"/>
        </p:xfrm>
        <a:graphic>
          <a:graphicData uri="http://schemas.openxmlformats.org/drawingml/2006/table">
            <a:tbl>
              <a:tblPr/>
              <a:tblGrid>
                <a:gridCol w="1463040"/>
                <a:gridCol w="3017520"/>
                <a:gridCol w="2194560"/>
                <a:gridCol w="1005840"/>
              </a:tblGrid>
              <a:tr h="0">
                <a:tc>
                  <a:txBody>
                    <a:bodyPr/>
                    <a:lstStyle/>
                    <a:p>
                      <a:pPr indent="0" marL="0">
                        <a:buNone/>
                      </a:pPr>
                      <a:r>
                        <a:rPr lang="en-US" sz="1400" b="1" dirty="0">
                          <a:solidFill>
                            <a:srgbClr val="F7F3E8"/>
                          </a:solidFill>
                        </a:rPr>
                        <a:t>Time</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c>
                  <a:txBody>
                    <a:bodyPr/>
                    <a:lstStyle/>
                    <a:p>
                      <a:pPr indent="0" marL="0">
                        <a:buNone/>
                      </a:pPr>
                      <a:r>
                        <a:rPr lang="en-US" sz="1400" b="1" dirty="0">
                          <a:solidFill>
                            <a:srgbClr val="F7F3E8"/>
                          </a:solidFill>
                        </a:rPr>
                        <a:t>On screen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c>
                  <a:txBody>
                    <a:bodyPr/>
                    <a:lstStyle/>
                    <a:p>
                      <a:pPr indent="0" marL="0">
                        <a:buNone/>
                      </a:pPr>
                      <a:r>
                        <a:rPr lang="en-US" sz="1400" b="1" dirty="0">
                          <a:solidFill>
                            <a:srgbClr val="F7F3E8"/>
                          </a:solidFill>
                        </a:rPr>
                        <a:t>Who speaks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c>
                  <a:txBody>
                    <a:bodyPr/>
                    <a:lstStyle/>
                    <a:p>
                      <a:pPr indent="0" marL="0">
                        <a:buNone/>
                      </a:pPr>
                      <a:r>
                        <a:rPr lang="en-US" sz="1400" b="1" dirty="0">
                          <a:solidFill>
                            <a:srgbClr val="F7F3E8"/>
                          </a:solidFill>
                        </a:rPr>
                        <a:t>Length</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173D2E"/>
                    </a:solidFill>
                  </a:tcPr>
                </a:tc>
              </a:tr>
              <a:tr h="0">
                <a:tc>
                  <a:txBody>
                    <a:bodyPr/>
                    <a:lstStyle/>
                    <a:p>
                      <a:pPr indent="0" marL="0">
                        <a:buNone/>
                      </a:pPr>
                      <a:r>
                        <a:rPr lang="en-US" sz="1400" b="1" dirty="0">
                          <a:solidFill>
                            <a:srgbClr val="96590A"/>
                          </a:solidFill>
                        </a:rPr>
                        <a:t>0:00–0:15</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Cover</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15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0:15–0:50</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Problem</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35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0:50–1:10</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Target user</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20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1:10–1:30</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Solution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20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1:30–3:45</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Live demo (in the app)</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Thien Gen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F6E3C5"/>
                    </a:solidFill>
                  </a:tcPr>
                </a:tc>
                <a:tc>
                  <a:txBody>
                    <a:bodyPr/>
                    <a:lstStyle/>
                    <a:p>
                      <a:pPr indent="0" marL="0">
                        <a:buNone/>
                      </a:pPr>
                      <a:r>
                        <a:rPr lang="en-US" sz="1400" dirty="0">
                          <a:solidFill>
                            <a:srgbClr val="173D2E"/>
                          </a:solidFill>
                        </a:rPr>
                        <a:t>135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3:45–4:05</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How it works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20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4:05–4:20</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Impact</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15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4:20–4:30</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Innovation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10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4:30–4:45</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Feasibility</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15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r h="0">
                <a:tc>
                  <a:txBody>
                    <a:bodyPr/>
                    <a:lstStyle/>
                    <a:p>
                      <a:pPr indent="0" marL="0">
                        <a:buNone/>
                      </a:pPr>
                      <a:r>
                        <a:rPr lang="en-US" sz="1400" b="1" dirty="0">
                          <a:solidFill>
                            <a:srgbClr val="96590A"/>
                          </a:solidFill>
                        </a:rPr>
                        <a:t>4:45–5:00</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Implementation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c>
                  <a:txBody>
                    <a:bodyPr/>
                    <a:lstStyle/>
                    <a:p>
                      <a:pPr indent="0" marL="0">
                        <a:buNone/>
                      </a:pPr>
                      <a:r>
                        <a:rPr lang="en-US" sz="1400" dirty="0">
                          <a:solidFill>
                            <a:srgbClr val="173D2E"/>
                          </a:solidFill>
                        </a:rPr>
                        <a:t>Steven</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solidFill>
                      <a:srgbClr val="D8E8F2"/>
                    </a:solidFill>
                  </a:tcPr>
                </a:tc>
                <a:tc>
                  <a:txBody>
                    <a:bodyPr/>
                    <a:lstStyle/>
                    <a:p>
                      <a:pPr indent="0" marL="0">
                        <a:buNone/>
                      </a:pPr>
                      <a:r>
                        <a:rPr lang="en-US" sz="1400" dirty="0">
                          <a:solidFill>
                            <a:srgbClr val="173D2E"/>
                          </a:solidFill>
                        </a:rPr>
                        <a:t>15 s</a:t>
                      </a:r>
                      <a:endParaRPr lang="en-US" sz="1400" dirty="0"/>
                    </a:p>
                  </a:txBody>
                  <a:tcPr marL="109728" marR="109728" marT="45720" marB="45720">
                    <a:lnL w="9525" cap="flat" cmpd="sng" algn="ctr">
                      <a:solidFill>
                        <a:srgbClr val="D9CFB6"/>
                      </a:solidFill>
                      <a:prstDash val="solid"/>
                      <a:round/>
                      <a:headEnd type="none" w="med" len="med"/>
                      <a:tailEnd type="none" w="med" len="med"/>
                    </a:lnL>
                    <a:lnR w="9525" cap="flat" cmpd="sng" algn="ctr">
                      <a:solidFill>
                        <a:srgbClr val="D9CFB6"/>
                      </a:solidFill>
                      <a:prstDash val="solid"/>
                      <a:round/>
                      <a:headEnd type="none" w="med" len="med"/>
                      <a:tailEnd type="none" w="med" len="med"/>
                    </a:lnR>
                    <a:lnT w="9525" cap="flat" cmpd="sng" algn="ctr">
                      <a:solidFill>
                        <a:srgbClr val="D9CFB6"/>
                      </a:solidFill>
                      <a:prstDash val="solid"/>
                      <a:round/>
                      <a:headEnd type="none" w="med" len="med"/>
                      <a:tailEnd type="none" w="med" len="med"/>
                    </a:lnT>
                    <a:lnB w="9525" cap="flat" cmpd="sng" algn="ctr">
                      <a:solidFill>
                        <a:srgbClr val="D9CFB6"/>
                      </a:solidFill>
                      <a:prstDash val="solid"/>
                      <a:round/>
                      <a:headEnd type="none" w="med" len="med"/>
                      <a:tailEnd type="none" w="med" len="med"/>
                    </a:lnB>
                  </a:tcPr>
                </a:tc>
              </a:tr>
            </a:tbl>
          </a:graphicData>
        </a:graphic>
      </p:graphicFrame>
      <p:sp>
        <p:nvSpPr>
          <p:cNvPr id="5" name="Where the script is"/>
          <p:cNvSpPr txBox="1"/>
          <p:nvPr/>
        </p:nvSpPr>
        <p:spPr>
          <a:xfrm>
            <a:off x="8549640" y="1965960"/>
            <a:ext cx="3093415" cy="3931920"/>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The handover</a:t>
            </a:r>
            <a:endParaRPr lang="en-US" sz="1500" dirty="0"/>
          </a:p>
          <a:p>
            <a:pPr indent="0" marL="0">
              <a:buNone/>
            </a:pPr>
            <a:r>
              <a:rPr lang="en-US" sz="1500" dirty="0">
                <a:solidFill>
                  <a:schemeClr val="tx2"/>
                </a:solidFill>
              </a:rPr>
              <a:t>One laptop. Steven advances the slides. At 1:30 Thien Gen takes the keyboard and Alt+Tabs to the app; at 3:40 Thien Gen Alt+Tabs back and hands over.</a:t>
            </a:r>
            <a:endParaRPr lang="en-US" sz="1500" dirty="0"/>
          </a:p>
          <a:p>
            <a:pPr indent="0" marL="0">
              <a:buNone/>
            </a:pPr>
            <a:r>
              <a:rPr lang="en-US" sz="1500" dirty="0">
                <a:solidFill>
                  <a:schemeClr val="tx2"/>
                </a:solidFill>
              </a:rPr>
              <a:t> </a:t>
            </a:r>
            <a:endParaRPr lang="en-US" sz="1500" dirty="0"/>
          </a:p>
          <a:p>
            <a:pPr indent="0" marL="0">
              <a:buNone/>
            </a:pPr>
            <a:r>
              <a:rPr lang="en-US" sz="1800" b="1" dirty="0">
                <a:solidFill>
                  <a:schemeClr val="tx2"/>
                </a:solidFill>
                <a:latin typeface="+mj-lt" pitchFamily="34" charset="0"/>
                <a:ea typeface="+mj-lt" pitchFamily="34" charset="-122"/>
                <a:cs typeface="+mj-lt" pitchFamily="34" charset="-120"/>
              </a:rPr>
              <a:t>The full words</a:t>
            </a:r>
            <a:endParaRPr lang="en-US" sz="1500" dirty="0"/>
          </a:p>
          <a:p>
            <a:pPr indent="0" marL="0">
              <a:buNone/>
            </a:pPr>
            <a:r>
              <a:rPr lang="en-US" sz="1500" dirty="0">
                <a:solidFill>
                  <a:schemeClr val="tx2"/>
                </a:solidFill>
              </a:rPr>
              <a:t>Each slide’s speaker notes hold its time window, the speaker, the lines and the clicks. The Word script adds setup, cue cards, the 10-minute version, recovery steps and Q&amp;A.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HONEST LIMITS</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What we model, and what we do not claim</a:t>
            </a:r>
            <a:endParaRPr lang="en-US" sz="3400" dirty="0"/>
          </a:p>
        </p:txBody>
      </p:sp>
      <p:sp>
        <p:nvSpPr>
          <p:cNvPr id="4" name="Shade is modelled card"/>
          <p:cNvSpPr/>
          <p:nvPr/>
        </p:nvSpPr>
        <p:spPr>
          <a:xfrm>
            <a:off x="548640" y="2103120"/>
            <a:ext cx="5410048" cy="1508760"/>
          </a:xfrm>
          <a:prstGeom prst="roundRect">
            <a:avLst>
              <a:gd name="adj" fmla="val 7273"/>
            </a:avLst>
          </a:prstGeom>
          <a:solidFill>
            <a:schemeClr val="bg1"/>
          </a:solidFill>
          <a:ln/>
          <a:effectLst>
            <a:outerShdw sx="100000" sy="100000" kx="0" ky="0" algn="bl" rotWithShape="0" blurRad="127000" dist="38100" dir="5400000">
              <a:srgbClr val="173D2E">
                <a:alpha val="14000"/>
              </a:srgbClr>
            </a:outerShdw>
          </a:effectLst>
        </p:spPr>
      </p:sp>
      <p:sp>
        <p:nvSpPr>
          <p:cNvPr id="5" name="Shade is modelled marker"/>
          <p:cNvSpPr/>
          <p:nvPr/>
        </p:nvSpPr>
        <p:spPr>
          <a:xfrm>
            <a:off x="822960" y="2432304"/>
            <a:ext cx="237744" cy="237744"/>
          </a:xfrm>
          <a:prstGeom prst="ellipse">
            <a:avLst/>
          </a:prstGeom>
          <a:solidFill>
            <a:schemeClr val="accent1"/>
          </a:solidFill>
          <a:ln/>
        </p:spPr>
      </p:sp>
      <p:sp>
        <p:nvSpPr>
          <p:cNvPr id="6" name="Shade is modelled"/>
          <p:cNvSpPr txBox="1"/>
          <p:nvPr/>
        </p:nvSpPr>
        <p:spPr>
          <a:xfrm>
            <a:off x="1234440" y="2331720"/>
            <a:ext cx="4449928" cy="11887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Shade is modelled</a:t>
            </a:r>
            <a:endParaRPr lang="en-US" sz="2000" dirty="0"/>
          </a:p>
          <a:p>
            <a:pPr indent="0" marL="0">
              <a:spcAft>
                <a:spcPts val="400"/>
              </a:spcAft>
              <a:buNone/>
            </a:pPr>
            <a:r>
              <a:rPr lang="en-US" sz="1500" dirty="0">
                <a:solidFill>
                  <a:schemeClr val="tx2"/>
                </a:solidFill>
              </a:rPr>
              <a:t>From mapped buildings and the real sun. OpenStreetMap has few trees here, so midday shade is understated until a survey adds them.</a:t>
            </a:r>
            <a:endParaRPr lang="en-US" sz="2000" dirty="0"/>
          </a:p>
        </p:txBody>
      </p:sp>
      <p:sp>
        <p:nvSpPr>
          <p:cNvPr id="7" name="Walks are part real card"/>
          <p:cNvSpPr/>
          <p:nvPr/>
        </p:nvSpPr>
        <p:spPr>
          <a:xfrm>
            <a:off x="6233008" y="2103120"/>
            <a:ext cx="5410048" cy="1508760"/>
          </a:xfrm>
          <a:prstGeom prst="roundRect">
            <a:avLst>
              <a:gd name="adj" fmla="val 7273"/>
            </a:avLst>
          </a:prstGeom>
          <a:solidFill>
            <a:schemeClr val="bg1"/>
          </a:solidFill>
          <a:ln/>
          <a:effectLst>
            <a:outerShdw sx="100000" sy="100000" kx="0" ky="0" algn="bl" rotWithShape="0" blurRad="127000" dist="38100" dir="5400000">
              <a:srgbClr val="173D2E">
                <a:alpha val="14000"/>
              </a:srgbClr>
            </a:outerShdw>
          </a:effectLst>
        </p:spPr>
      </p:sp>
      <p:sp>
        <p:nvSpPr>
          <p:cNvPr id="8" name="Walks are part real marker"/>
          <p:cNvSpPr/>
          <p:nvPr/>
        </p:nvSpPr>
        <p:spPr>
          <a:xfrm>
            <a:off x="6507328" y="2432304"/>
            <a:ext cx="237744" cy="237744"/>
          </a:xfrm>
          <a:prstGeom prst="ellipse">
            <a:avLst/>
          </a:prstGeom>
          <a:solidFill>
            <a:schemeClr val="accent1"/>
          </a:solidFill>
          <a:ln/>
        </p:spPr>
      </p:sp>
      <p:sp>
        <p:nvSpPr>
          <p:cNvPr id="9" name="Walks are part real"/>
          <p:cNvSpPr txBox="1"/>
          <p:nvPr/>
        </p:nvSpPr>
        <p:spPr>
          <a:xfrm>
            <a:off x="6918808" y="2331720"/>
            <a:ext cx="4449928" cy="11887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Walks are part real</a:t>
            </a:r>
            <a:endParaRPr lang="en-US" sz="2000" dirty="0"/>
          </a:p>
          <a:p>
            <a:pPr indent="0" marL="0">
              <a:spcAft>
                <a:spcPts val="400"/>
              </a:spcAft>
              <a:buNone/>
            </a:pPr>
            <a:r>
              <a:rPr lang="en-US" sz="1500" dirty="0">
                <a:solidFill>
                  <a:schemeClr val="tx2"/>
                </a:solidFill>
              </a:rPr>
              <a:t>Station exits are real ticket-gate counts. How they split between places, and bus stop trips, are estimates.</a:t>
            </a:r>
            <a:endParaRPr lang="en-US" sz="2000" dirty="0"/>
          </a:p>
        </p:txBody>
      </p:sp>
      <p:sp>
        <p:nvSpPr>
          <p:cNvPr id="10" name="Shade is not comfort card"/>
          <p:cNvSpPr/>
          <p:nvPr/>
        </p:nvSpPr>
        <p:spPr>
          <a:xfrm>
            <a:off x="548640" y="3886200"/>
            <a:ext cx="5410048" cy="1508760"/>
          </a:xfrm>
          <a:prstGeom prst="roundRect">
            <a:avLst>
              <a:gd name="adj" fmla="val 7273"/>
            </a:avLst>
          </a:prstGeom>
          <a:solidFill>
            <a:schemeClr val="bg1"/>
          </a:solidFill>
          <a:ln/>
          <a:effectLst>
            <a:outerShdw sx="100000" sy="100000" kx="0" ky="0" algn="bl" rotWithShape="0" blurRad="127000" dist="38100" dir="5400000">
              <a:srgbClr val="173D2E">
                <a:alpha val="14000"/>
              </a:srgbClr>
            </a:outerShdw>
          </a:effectLst>
        </p:spPr>
      </p:sp>
      <p:sp>
        <p:nvSpPr>
          <p:cNvPr id="11" name="Shade is not comfort marker"/>
          <p:cNvSpPr/>
          <p:nvPr/>
        </p:nvSpPr>
        <p:spPr>
          <a:xfrm>
            <a:off x="822960" y="4215384"/>
            <a:ext cx="237744" cy="237744"/>
          </a:xfrm>
          <a:prstGeom prst="ellipse">
            <a:avLst/>
          </a:prstGeom>
          <a:solidFill>
            <a:schemeClr val="accent2"/>
          </a:solidFill>
          <a:ln/>
        </p:spPr>
      </p:sp>
      <p:sp>
        <p:nvSpPr>
          <p:cNvPr id="12" name="Shade is not comfort"/>
          <p:cNvSpPr txBox="1"/>
          <p:nvPr/>
        </p:nvSpPr>
        <p:spPr>
          <a:xfrm>
            <a:off x="1234440" y="4114800"/>
            <a:ext cx="4449928" cy="11887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Shade is not comfort</a:t>
            </a:r>
            <a:endParaRPr lang="en-US" sz="2000" dirty="0"/>
          </a:p>
          <a:p>
            <a:pPr indent="0" marL="0">
              <a:spcAft>
                <a:spcPts val="400"/>
              </a:spcAft>
              <a:buNone/>
            </a:pPr>
            <a:r>
              <a:rPr lang="en-US" sz="1500" dirty="0">
                <a:solidFill>
                  <a:schemeClr val="tx2"/>
                </a:solidFill>
              </a:rPr>
              <a:t>We claim no temperature drop and never call a route safe or healthy.</a:t>
            </a:r>
            <a:endParaRPr lang="en-US" sz="2000" dirty="0"/>
          </a:p>
        </p:txBody>
      </p:sp>
      <p:sp>
        <p:nvSpPr>
          <p:cNvPr id="13" name="A person signs off card"/>
          <p:cNvSpPr/>
          <p:nvPr/>
        </p:nvSpPr>
        <p:spPr>
          <a:xfrm>
            <a:off x="6233008" y="3886200"/>
            <a:ext cx="5410048" cy="1508760"/>
          </a:xfrm>
          <a:prstGeom prst="roundRect">
            <a:avLst>
              <a:gd name="adj" fmla="val 7273"/>
            </a:avLst>
          </a:prstGeom>
          <a:solidFill>
            <a:schemeClr val="bg1"/>
          </a:solidFill>
          <a:ln/>
          <a:effectLst>
            <a:outerShdw sx="100000" sy="100000" kx="0" ky="0" algn="bl" rotWithShape="0" blurRad="127000" dist="38100" dir="5400000">
              <a:srgbClr val="173D2E">
                <a:alpha val="14000"/>
              </a:srgbClr>
            </a:outerShdw>
          </a:effectLst>
        </p:spPr>
      </p:sp>
      <p:sp>
        <p:nvSpPr>
          <p:cNvPr id="14" name="A person signs off marker"/>
          <p:cNvSpPr/>
          <p:nvPr/>
        </p:nvSpPr>
        <p:spPr>
          <a:xfrm>
            <a:off x="6507328" y="4215384"/>
            <a:ext cx="237744" cy="237744"/>
          </a:xfrm>
          <a:prstGeom prst="ellipse">
            <a:avLst/>
          </a:prstGeom>
          <a:solidFill>
            <a:schemeClr val="accent2"/>
          </a:solidFill>
          <a:ln/>
        </p:spPr>
      </p:sp>
      <p:sp>
        <p:nvSpPr>
          <p:cNvPr id="15" name="A person signs off"/>
          <p:cNvSpPr txBox="1"/>
          <p:nvPr/>
        </p:nvSpPr>
        <p:spPr>
          <a:xfrm>
            <a:off x="6918808" y="4114800"/>
            <a:ext cx="4449928" cy="11887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A person signs off</a:t>
            </a:r>
            <a:endParaRPr lang="en-US" sz="2000" dirty="0"/>
          </a:p>
          <a:p>
            <a:pPr indent="0" marL="0">
              <a:spcAft>
                <a:spcPts val="400"/>
              </a:spcAft>
              <a:buNone/>
            </a:pPr>
            <a:r>
              <a:rPr lang="en-US" sz="1500" dirty="0">
                <a:solidFill>
                  <a:schemeClr val="tx2"/>
                </a:solidFill>
              </a:rPr>
              <a:t>AI estimates need a person to confirm. Costs are estimates, not quotes. Structures need an engineer.</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SCREEN · SPEC PACK</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From plan to contractor quote</a:t>
            </a:r>
            <a:endParaRPr lang="en-US" sz="3400" dirty="0"/>
          </a:p>
        </p:txBody>
      </p:sp>
      <p:pic>
        <p:nvPicPr>
          <p:cNvPr id="4" name="Screen · Spec pack screenshot" descr="Spec pack for a 92 m covered walkway: elevation drawing, dimensions and a priced bill of materials">    </p:cNvPr>
          <p:cNvPicPr>
            <a:picLocks noChangeAspect="1"/>
          </p:cNvPicPr>
          <p:nvPr/>
        </p:nvPicPr>
        <p:blipFill>
          <a:blip r:embed="rId1"/>
          <a:stretch>
            <a:fillRect/>
          </a:stretch>
        </p:blipFill>
        <p:spPr>
          <a:xfrm>
            <a:off x="548640" y="2011680"/>
            <a:ext cx="6766560" cy="4229100"/>
          </a:xfrm>
          <a:prstGeom prst="rect">
            <a:avLst/>
          </a:prstGeom>
        </p:spPr>
      </p:pic>
      <p:sp>
        <p:nvSpPr>
          <p:cNvPr id="5" name="Screen · Spec pack caption"/>
          <p:cNvSpPr txBox="1"/>
          <p:nvPr/>
        </p:nvSpPr>
        <p:spPr>
          <a:xfrm>
            <a:off x="7680960" y="2103120"/>
            <a:ext cx="3962095" cy="3291840"/>
          </a:xfrm>
          <a:prstGeom prst="rect">
            <a:avLst/>
          </a:prstGeom>
          <a:noFill/>
          <a:ln/>
        </p:spPr>
        <p:txBody>
          <a:bodyPr wrap="square" lIns="0" tIns="0" rIns="0" bIns="0" rtlCol="0" anchor="t"/>
          <a:lstStyle/>
          <a:p>
            <a:pPr indent="0" marL="0">
              <a:buNone/>
            </a:pPr>
            <a:r>
              <a:rPr lang="en-US" sz="1700" dirty="0">
                <a:solidFill>
                  <a:schemeClr val="tx2"/>
                </a:solidFill>
              </a:rPr>
              <a:t>Posts, footings, roof area, a priced bill of materials and an elevation drawing. Downloads as CSV or JSON. Indicative only: an engineer signs off.</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SCREEN · AI SCAN</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A photo fills the gap the map can’t</a:t>
            </a:r>
            <a:endParaRPr lang="en-US" sz="3400" dirty="0"/>
          </a:p>
        </p:txBody>
      </p:sp>
      <p:pic>
        <p:nvPicPr>
          <p:cNvPr id="4" name="Screen · AI scan screenshot" descr="AI shade scan: a path photo, the local model’s 50% estimate, a slider to adjust it, and the AI-confirmed badge">    </p:cNvPr>
          <p:cNvPicPr>
            <a:picLocks noChangeAspect="1"/>
          </p:cNvPicPr>
          <p:nvPr/>
        </p:nvPicPr>
        <p:blipFill>
          <a:blip r:embed="rId1"/>
          <a:stretch>
            <a:fillRect/>
          </a:stretch>
        </p:blipFill>
        <p:spPr>
          <a:xfrm>
            <a:off x="548640" y="2011680"/>
            <a:ext cx="6766560" cy="4229100"/>
          </a:xfrm>
          <a:prstGeom prst="rect">
            <a:avLst/>
          </a:prstGeom>
        </p:spPr>
      </p:pic>
      <p:sp>
        <p:nvSpPr>
          <p:cNvPr id="5" name="Screen · AI scan caption"/>
          <p:cNvSpPr txBox="1"/>
          <p:nvPr/>
        </p:nvSpPr>
        <p:spPr>
          <a:xfrm>
            <a:off x="7680960" y="2103120"/>
            <a:ext cx="3962095" cy="3291840"/>
          </a:xfrm>
          <a:prstGeom prst="rect">
            <a:avLst/>
          </a:prstGeom>
          <a:noFill/>
          <a:ln/>
        </p:spPr>
        <p:txBody>
          <a:bodyPr wrap="square" lIns="0" tIns="0" rIns="0" bIns="0" rtlCol="0" anchor="t"/>
          <a:lstStyle/>
          <a:p>
            <a:pPr indent="0" marL="0">
              <a:buNone/>
            </a:pPr>
            <a:r>
              <a:rPr lang="en-US" sz="1700" dirty="0">
                <a:solidFill>
                  <a:schemeClr val="tx2"/>
                </a:solidFill>
              </a:rPr>
              <a:t>A vision model estimates the shade on a path. It reaches the map only after a person adjusts and confirms it, labelled AI-confirmed.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SCREEN · FUTURE CANOPY</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Trees take years. Walkways work today.</a:t>
            </a:r>
            <a:endParaRPr lang="en-US" sz="3400" dirty="0"/>
          </a:p>
        </p:txBody>
      </p:sp>
      <p:pic>
        <p:nvPicPr>
          <p:cNvPr id="4" name="Screen · Future canopy screenshot" descr="Future canopy at year 10: the best plan becomes five tree rows for RM 51,700 avoiding 26.5 pedestrian-hours a day">    </p:cNvPr>
          <p:cNvPicPr>
            <a:picLocks noChangeAspect="1"/>
          </p:cNvPicPr>
          <p:nvPr/>
        </p:nvPicPr>
        <p:blipFill>
          <a:blip r:embed="rId1"/>
          <a:stretch>
            <a:fillRect/>
          </a:stretch>
        </p:blipFill>
        <p:spPr>
          <a:xfrm>
            <a:off x="548640" y="2011680"/>
            <a:ext cx="6766560" cy="4229100"/>
          </a:xfrm>
          <a:prstGeom prst="rect">
            <a:avLst/>
          </a:prstGeom>
        </p:spPr>
      </p:pic>
      <p:sp>
        <p:nvSpPr>
          <p:cNvPr id="5" name="Screen · Future canopy caption"/>
          <p:cNvSpPr txBox="1"/>
          <p:nvPr/>
        </p:nvSpPr>
        <p:spPr>
          <a:xfrm>
            <a:off x="7680960" y="2103120"/>
            <a:ext cx="3962095" cy="3291840"/>
          </a:xfrm>
          <a:prstGeom prst="rect">
            <a:avLst/>
          </a:prstGeom>
          <a:noFill/>
          <a:ln/>
        </p:spPr>
        <p:txBody>
          <a:bodyPr wrap="square" lIns="0" tIns="0" rIns="0" bIns="0" rtlCol="0" anchor="t"/>
          <a:lstStyle/>
          <a:p>
            <a:pPr indent="0" marL="0">
              <a:buNone/>
            </a:pPr>
            <a:r>
              <a:rPr lang="en-US" sz="1700" dirty="0">
                <a:solidFill>
                  <a:schemeClr val="tx2"/>
                </a:solidFill>
              </a:rPr>
              <a:t>At year 10 the best plan flips to five tree rows: twice the benefit for about half the cost, if the trees mature as modelled.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algn="l" indent="0" marL="0">
              <a:buNone/>
            </a:pPr>
            <a:r>
              <a:rPr lang="en-US" sz="1200" b="1" spc="300" kern="0" dirty="0">
                <a:solidFill>
                  <a:schemeClr val="accent3"/>
                </a:solidFill>
              </a:rPr>
              <a:t>SOURCES</a:t>
            </a:r>
            <a:endParaRPr lang="en-US" sz="1200" dirty="0"/>
          </a:p>
        </p:txBody>
      </p:sp>
      <p:sp>
        <p:nvSpPr>
          <p:cNvPr id="3" name="Text 0"/>
          <p:cNvSpPr/>
          <p:nvPr>
            <p:ph idx="101" type="title" hasCustomPrompt="1"/>
          </p:nvPr>
        </p:nvSpPr>
        <p:spPr>
          <a:xfrm>
            <a:off x="548640" y="749808"/>
            <a:ext cx="11094415" cy="1097280"/>
          </a:xfrm>
          <a:prstGeom prst="rect">
            <a:avLst/>
          </a:prstGeom>
          <a:noFill/>
          <a:ln/>
        </p:spPr>
        <p:txBody>
          <a:bodyPr wrap="square" lIns="0" tIns="0" rIns="0" bIns="0" rtlCol="0" anchor="t"/>
          <a:lstStyle/>
          <a:p>
            <a:pPr algn="l" indent="0" marL="0">
              <a:buNone/>
            </a:pPr>
            <a:r>
              <a:rPr lang="en-US" sz="3400" b="1" dirty="0">
                <a:solidFill>
                  <a:schemeClr val="tx1"/>
                </a:solidFill>
              </a:rPr>
              <a:t>Where the numbers come from</a:t>
            </a:r>
            <a:endParaRPr lang="en-US" sz="3400" dirty="0"/>
          </a:p>
        </p:txBody>
      </p:sp>
      <p:sp>
        <p:nvSpPr>
          <p:cNvPr id="4" name="Sources"/>
          <p:cNvSpPr txBox="1"/>
          <p:nvPr/>
        </p:nvSpPr>
        <p:spPr>
          <a:xfrm>
            <a:off x="548640" y="2011680"/>
            <a:ext cx="11094415" cy="402336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Map data: </a:t>
            </a:r>
            <a:pPr indent="0" marL="0">
              <a:spcAft>
                <a:spcPts val="800"/>
              </a:spcAft>
              <a:buNone/>
            </a:pPr>
            <a:r>
              <a:rPr lang="en-US" sz="1500" dirty="0">
                <a:solidFill>
                  <a:schemeClr val="tx1"/>
                </a:solidFill>
              </a:rPr>
              <a:t>© OpenStreetMap contributors (ODbL): streets, buildings, places.</a:t>
            </a:r>
            <a:endParaRPr lang="en-US" sz="1500" dirty="0"/>
          </a:p>
          <a:p>
            <a:pPr indent="0" marL="0">
              <a:spcAft>
                <a:spcPts val="800"/>
              </a:spcAft>
              <a:buNone/>
            </a:pPr>
            <a:r>
              <a:rPr lang="en-US" sz="1500" b="1" dirty="0">
                <a:solidFill>
                  <a:schemeClr val="tx1"/>
                </a:solidFill>
              </a:rPr>
              <a:t>Rail ridership: </a:t>
            </a:r>
            <a:pPr indent="0" marL="0">
              <a:spcAft>
                <a:spcPts val="800"/>
              </a:spcAft>
              <a:buNone/>
            </a:pPr>
            <a:r>
              <a:rPr lang="en-US" sz="1500" dirty="0">
                <a:solidFill>
                  <a:schemeClr val="tx1"/>
                </a:solidFill>
              </a:rPr>
              <a:t>Prasarana ticket-gate exits by station, published on data.gov.my (CC BY 4.0).</a:t>
            </a:r>
            <a:endParaRPr lang="en-US" sz="1500" dirty="0"/>
          </a:p>
          <a:p>
            <a:pPr indent="0" marL="0">
              <a:spcAft>
                <a:spcPts val="800"/>
              </a:spcAft>
              <a:buNone/>
            </a:pPr>
            <a:r>
              <a:rPr lang="en-US" sz="1500" b="1" dirty="0">
                <a:solidFill>
                  <a:schemeClr val="tx1"/>
                </a:solidFill>
              </a:rPr>
              <a:t>Unit costs: </a:t>
            </a:r>
            <a:pPr indent="0" marL="0">
              <a:spcAft>
                <a:spcPts val="800"/>
              </a:spcAft>
              <a:buNone/>
            </a:pPr>
            <a:r>
              <a:rPr lang="en-US" sz="1500" dirty="0">
                <a:solidFill>
                  <a:schemeClr val="tx1"/>
                </a:solidFill>
              </a:rPr>
              <a:t>bottom-up estimates in MYR, editable in the app; to be replaced with contractor quotes.</a:t>
            </a:r>
            <a:endParaRPr lang="en-US" sz="1500" dirty="0"/>
          </a:p>
          <a:p>
            <a:pPr indent="0" marL="0">
              <a:spcAft>
                <a:spcPts val="800"/>
              </a:spcAft>
              <a:buNone/>
            </a:pPr>
            <a:r>
              <a:rPr lang="en-US" sz="1500" b="1" dirty="0">
                <a:solidFill>
                  <a:schemeClr val="tx1"/>
                </a:solidFill>
              </a:rPr>
              <a:t>Prior work: </a:t>
            </a:r>
            <a:pPr indent="0" marL="0">
              <a:spcAft>
                <a:spcPts val="800"/>
              </a:spcAft>
              <a:buNone/>
            </a:pPr>
            <a:r>
              <a:rPr lang="en-US" sz="1500" dirty="0">
                <a:solidFill>
                  <a:schemeClr val="tx1"/>
                </a:solidFill>
              </a:rPr>
              <a:t>Open Government Products, Undercover, Hack for Public Good (2026), hack.gov.sg/2026/undercover</a:t>
            </a:r>
            <a:endParaRPr lang="en-US" sz="1500" dirty="0"/>
          </a:p>
          <a:p>
            <a:pPr indent="0" marL="0">
              <a:spcAft>
                <a:spcPts val="800"/>
              </a:spcAft>
              <a:buNone/>
            </a:pPr>
            <a:r>
              <a:rPr lang="en-US" sz="1500" dirty="0">
                <a:solidFill>
                  <a:schemeClr val="tx1"/>
                </a:solidFill>
              </a:rPr>
              <a:t>Schrodi et al., Climate-sensitive Urban Planning through Optimization of Tree Placements (2023), arxiv.org/abs/2310.05691</a:t>
            </a:r>
            <a:endParaRPr lang="en-US" sz="1500" dirty="0"/>
          </a:p>
          <a:p>
            <a:pPr indent="0" marL="0">
              <a:spcAft>
                <a:spcPts val="800"/>
              </a:spcAft>
              <a:buNone/>
            </a:pPr>
            <a:r>
              <a:rPr lang="en-US" sz="1500" dirty="0">
                <a:solidFill>
                  <a:schemeClr val="tx1"/>
                </a:solidFill>
              </a:rPr>
              <a:t>CoolWalks for active mobility in urban street networks, Scientific Reports (2025), nature.com/articles/s41598-025-97200-2</a:t>
            </a:r>
            <a:endParaRPr lang="en-US" sz="1500" dirty="0"/>
          </a:p>
          <a:p>
            <a:pPr indent="0" marL="0">
              <a:spcAft>
                <a:spcPts val="800"/>
              </a:spcAft>
              <a:buNone/>
            </a:pPr>
            <a:r>
              <a:rPr lang="en-US" sz="1500" b="1" dirty="0">
                <a:solidFill>
                  <a:schemeClr val="tx1"/>
                </a:solidFill>
              </a:rPr>
              <a:t>SDP strategy: </a:t>
            </a:r>
            <a:pPr indent="0" marL="0">
              <a:spcAft>
                <a:spcPts val="800"/>
              </a:spcAft>
              <a:buNone/>
            </a:pPr>
            <a:r>
              <a:rPr lang="en-US" sz="1500" dirty="0">
                <a:solidFill>
                  <a:schemeClr val="tx1"/>
                </a:solidFill>
              </a:rPr>
              <a:t>Sime Darby Property Sustainability Strategy 2025–2030, from the hackathon briefing deck (9 Oct 2026).</a:t>
            </a:r>
            <a:endParaRPr lang="en-US" sz="1500" dirty="0"/>
          </a:p>
          <a:p>
            <a:pPr indent="0" marL="0">
              <a:spcAft>
                <a:spcPts val="800"/>
              </a:spcAft>
              <a:buNone/>
            </a:pPr>
            <a:r>
              <a:rPr lang="en-US" sz="1500" b="1" dirty="0">
                <a:solidFill>
                  <a:schemeClr val="tx1"/>
                </a:solidFill>
              </a:rPr>
              <a:t>Code: </a:t>
            </a:r>
            <a:pPr indent="0" marL="0">
              <a:spcAft>
                <a:spcPts val="800"/>
              </a:spcAft>
              <a:buNone/>
            </a:pPr>
            <a:r>
              <a:rPr lang="en-US" sz="1500" dirty="0">
                <a:solidFill>
                  <a:schemeClr val="tx1"/>
                </a:solidFill>
              </a:rPr>
              <a:t>github.com/evan-2005/Teduh</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EDUH">
  <a:themeElements>
    <a:clrScheme name="TEDUH">
      <a:dk1>
        <a:srgbClr val="173D2E"/>
      </a:dk1>
      <a:lt1>
        <a:srgbClr val="FFFDF7"/>
      </a:lt1>
      <a:dk2>
        <a:srgbClr val="3D4A42"/>
      </a:dk2>
      <a:lt2>
        <a:srgbClr val="F7F3E8"/>
      </a:lt2>
      <a:accent1>
        <a:srgbClr val="E3A33B"/>
      </a:accent1>
      <a:accent2>
        <a:srgbClr val="2E7D50"/>
      </a:accent2>
      <a:accent3>
        <a:srgbClr val="96590A"/>
      </a:accent3>
      <a:accent4>
        <a:srgbClr val="BFD3C6"/>
      </a:accent4>
      <a:accent5>
        <a:srgbClr val="EFE8D6"/>
      </a:accent5>
      <a:accent6>
        <a:srgbClr val="1F5E86"/>
      </a:accent6>
      <a:hlink>
        <a:srgbClr val="1F5E86"/>
      </a:hlink>
      <a:folHlink>
        <a:srgbClr val="6A4C93"/>
      </a:folHlink>
    </a:clrScheme>
    <a:fontScheme name="TEDU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TEDUH: Small changes. Cooler journeys.</dc:title>
  <dc:subject>PptxGenJS Presentation</dc:subject>
  <dc:creator>Team One</dc:creator>
  <cp:lastModifiedBy>Team One</cp:lastModifiedBy>
  <cp:revision>1</cp:revision>
  <dcterms:created xsi:type="dcterms:W3CDTF">2026-10-19T16:53:11Z</dcterms:created>
  <dcterms:modified xsi:type="dcterms:W3CDTF">2026-10-19T16:53:11Z</dcterms:modified>
</cp:coreProperties>
</file>