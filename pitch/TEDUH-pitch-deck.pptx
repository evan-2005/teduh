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8EC00636-71D2-CEEB-1CD8-4B74FA164271}">
          <p14:sldIdLst>
            <p14:sldId id="256"/>
            <p14:sldId id="257"/>
            <p14:sldId id="258"/>
            <p14:sldId id="259"/>
          </p14:sldIdLst>
        </p14:section>
        <p14:section name="Proof" id="{B1555B9B-432C-2CD8-F0B4-5546570A2E5C}">
          <p14:sldIdLst>
            <p14:sldId id="260"/>
            <p14:sldId id="261"/>
            <p14:sldId id="262"/>
          </p14:sldIdLst>
        </p14:section>
        <p14:section name="Plan" id="{1811AFC1-C82A-9955-300A-3CFF51B28E5E}">
          <p14:sldIdLst>
            <p14:sldId id="263"/>
            <p14:sldId id="264"/>
            <p14:sldId id="265"/>
          </p14:sldIdLst>
        </p14:section>
        <p14:section name="Appendix" id="{3814AB47-593E-0978-289F-AE8243DC051E}">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1" d="100"/>
          <a:sy n="61" d="100"/>
        </p:scale>
        <p:origin x="485"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432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0:00–0:15 (15 s) in the 5-minute run
[0:00] THIEN GEN
SAY: “Hi, we are [team name]. I’m Thien Gen, this is Steven. Teduh is Malay for shaded or sheltered. Our track is Planet, focus climate resilience.”
DO: Deck on the cover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0:15–0:50 (35 s) in the 5-minute run
[0:15] THIEN GEN
SAY: “Picture SS 15 in Subang Jaya at 2 pm. About 5,000 people leave the LRT station on a weekday; that is real Prasarana ticket-gate data. Our model sends about 590 of them a day to the mall next door, and on that walk there’s a 218-metre stretch with no shade at all. The township has trees and footpaths. The problem is the gaps between them, and a manager with a small budget can’t see which gap matters most.”
DO: Next slide: Problem.
CHECK: ◆592 and ◆218 m on the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0:50–1:10 (20 s) in the 5-minute run
[0:50] THIEN GEN
SAY: “Our user is the person who holds the budget: the township manager. The landscape team builds it, and residents on foot benefit.”
DO: Next slide: Target user.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1:10–1:30 (20 s) in the 5-minute run
[1:10] STEVEN
SAY: “Teduh answers one question: with this budget, which shade helps the most walks? It recommends trees and covered walkways, shows before and after, and hands off a build pack. Let me show you.”
DO: Next slide: Solution, then the Live demo slide. Alt+Tab to the app.
CHECK: The app, on 1 Map &amp; routes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1:30–3:45 (135 s) in the 5-minute run
[1:30] STEVEN
SAY: “This is the real SS 15. Streets and buildings are from OpenStreetMap. Here is the 2 pm walk from the LRT station to the mall.”
DO: Left panel: click Demo: 2 pm walk from the LRT station to the shopping mall.
CHECK: Headline ◆12.7. Under Journeys: LRT station → Shopping mall, “sun 3.0 → 1.9 min · exposed 218 → 149 m”
[1:45] STEVEN
SAY: “With RM 100,000, Teduh tried every affordable combination and recommends one covered walkway and two tree rows, for RM 94,100. The walkway from the station on Jengka Avenue does most of the work.”
DO: Top bar: 2 Plan builder. Point at the Best card, then scroll to What each one adds.
CHECK: Best: 1 covered walkway + 2 tree rows, RM ◆94,100 · ◆12.7. Walkway ◆539 min/day
[2:05] STEVEN
SAY: “Before on the left, after on the right.”
DO: On the map, drag the round ⇄ handle from the middle to the left, slowly, past the LRT station marker.
CHECK: Amber dashed paths by the station turn solid green
[2:20] THIEN GEN
SAY: “That’s the key idea: one walkway on a shared stretch helps the mall, the college and the clinic walks at once.”
DO: Steven keeps the mouse still.
[2:30] STEVEN
SAY: “Trees take years; a walkway works on day one. Let’s grow them ten years.”
DO: Top of the map: Future, then Grow. Wait about 5 s for Year 10.
CHECK: Best plan flips to 5 tree rows, RM ◆51,700 · ◆26.5
[2:50] THIEN GEN
SAY: “Twice the benefit for about half the money, if you can wait, and if the trees grow as modelled.”
[2:55] STEVEN
SAY: “Every item comes with a spec pack a contractor can quote from.”
DO: Click Now. Left panel, under Candidates: Details next to Covered walkway from the LRT station on Jengka Avenue (69 m).
CHECK: 3 Spec pack: ◆69 m, RM ◆79,000, drawing, bill of materials, Download CSV
[3:15] STEVEN
SAY: “OpenStreetMap has almost no trees mapped here, so our shade is a model. A survey photo fills that gap. A vision model running on this laptop estimates the shade, and nothing reaches the map until a person confirms it.”
DO: 4 AI scan. Path segment already reads Jengka Avenue (Main road) · seg-116. Choose File → photo → Estimate shade.
CHECK: “Estimating…” for about 10 s
[3:25] THIEN GEN
SAY: Talk over the wait: “Photos stay on this laptop, and there’s no cloud cost per photo.”
CHECK: “AI estimate: N% shaded”, “Estimated by a local model (qwen2.5vl:7b)”
[3:35] STEVEN
SAY: “I’ll check it against the photo, adjust, and confirm.”
DO: Drag Your value if needed, then Confirm and apply to map.
CHECK: “Applied … as AI-CONFIRMED”. The headline may drop: see the note below
If the headline drops after Confirm (for example 12.7 → 7.9), that is correct: the photo says the walkway’s path already has some shade, so the walkway is worth less. With time to spare, say: “One photo changed the decision. That’s why the survey matters.” Before the next run, click Undo all, or the Demo button again.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3:45–4:05 (20 s) in the 5-minute run
[3:45] STEVEN
SAY: “Under the hood: open map data, the real sun position, real station counts, and a score anyone can inspect: hours walked in direct sun, avoided.”
DO: Alt+Tab to the deck: How it works.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4:05–4:20 (15 s) in the 5-minute run
[4:05] THIEN GEN
SAY: “In this scenario, RM 94,000 takes 12.7 pedestrian-hours a day out of direct sun. These are model estimates; a pilot measures the real effect.”
DO: Next slide: Impact.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4:20–4:30 (10 s) in the 5-minute run
[4:20] THIEN GEN
SAY: “Routing apps like Singapore’s Undercover help a walker. Teduh helps a township decide what to build.”
DO: Next slide: Innovation.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4:30–4:45 (15 s) in the 5-minute run
[4:30] STEVEN
SAY: “It already runs on 15 Klang Valley areas and any other place in about 40 seconds: this is SDP’s Ara Damansara.”
DO: Next slide: Feasibility.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4:45–5:00 (15 s) in the 5-minute run
[4:45] THIEN GEN
SAY: “Our ask: one SDP township to pilot, a landscape contact and a small budget line. Survey, build, measure in six months. Thank you.”
DO: Next slide: Implementation. Stop at 5:00.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material for Q&amp;A, not part of the 5-minute run. If the live demo fails, use the screen slides that follow to tell the same story.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10-MINUTE VERSION (14 Nov, if Top 10)
Same opening and close as Part A. Slow the demo down and add these after the AI scan step. Do the Ara Damansara lookup once the evening before in the same browser: it is saved there, so on the day you can pick it from the Area dropdown if the Wi-Fi is slow.
[3:45] STEVEN: “Time of day matters.”  DO: 1 Map &amp; routes: drag Time of day from 2 pm to 5 pm and back. Exposed paths change.
[4:15] STEVEN: “Managers know their site. They can place their own.”  DO: 2 Plan builder → Plant a tree row → click 2–3 connected paths on the map → Add. It is priced and scored like the others.
[5:00] THIEN GEN: “A written summary for the manager, built only from the numbers on screen.”  DO: Steven: 4 AI scan → Explain this plan (about 20 s). A TEMPLATE badge means the model’s text was rejected for inventing a figure; say so, it is a safeguard.
[5:30] STEVEN: “And it works on SDP’s own township.”  DO: Look up a place → Ara Damansara → Search → pick Petaling Jaya, Petaling, Selangor. About 40 s while Thien Gen covers How it works. Then click the Demo button for Ara Damansara.
[6:30] BOTH: “Change the budget, untick a candidate, prioritise the college.”  DO: Hand the mouse to a judge. Everything recalculates instantly.
[7:30] THIEN GEN: Impact, Innovation, Feasibility and Implementation slides, about 40 s each.
[10:00] BOTH: End. Q&amp;A.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in Q&amp;A when judges ask how accurate it is. Key line: every number in the app carries a label (surveyed, estimated, AI-confirmed or missing), and the pilot is designed to replace estimates with measurements.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spec pack step (2:55) if the live demo fails.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AI scan step (3:15) if the live demo fails.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Future and Grow step (2:30) if the live demo fails.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 need to present.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rtlCol="0"/>
          <a:lstStyle>
            <a:lvl1pPr marL="0" indent="0" algn="l">
              <a:buNone/>
              <a:defRPr lang="en-US" sz="1200" b="1" dirty="0">
                <a:solidFill>
                  <a:schemeClr val="accent3"/>
                </a:solidFill>
              </a:defRPr>
            </a:lvl1pPr>
          </a:lstStyle>
          <a:p>
            <a:pPr marL="0" indent="0" algn="l">
              <a:buNone/>
            </a:pP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ND">
    <p:bg>
      <p:bgPr>
        <a:solidFill>
          <a:schemeClr val="accent5"/>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rtlCol="0"/>
          <a:lstStyle>
            <a:lvl1pPr marL="0" indent="0" algn="l">
              <a:buNone/>
              <a:defRPr lang="en-US" sz="1200" b="1" dirty="0">
                <a:solidFill>
                  <a:schemeClr val="accent3"/>
                </a:solidFill>
              </a:defRPr>
            </a:lvl1pPr>
          </a:lstStyle>
          <a:p>
            <a:pPr marL="0" indent="0" algn="l">
              <a:buNone/>
            </a:pP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rtlCol="0"/>
          <a:lstStyle>
            <a:lvl1pPr marL="0" indent="0" algn="l">
              <a:buNone/>
              <a:defRPr lang="en-US" sz="1200" b="1" dirty="0">
                <a:solidFill>
                  <a:schemeClr val="accent1"/>
                </a:solidFill>
              </a:defRPr>
            </a:lvl1pPr>
          </a:lstStyle>
          <a:p>
            <a:pPr marL="0" indent="0" algn="l">
              <a:buNone/>
            </a:pP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rtlCol="0"/>
          <a:lstStyle>
            <a:lvl1pPr marL="0" indent="0" algn="l">
              <a:buNone/>
              <a:defRPr lang="en-US" sz="3400" b="1" dirty="0">
                <a:solidFill>
                  <a:schemeClr val="bg2"/>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1463040"/>
            <a:ext cx="11094415" cy="411480"/>
          </a:xfrm>
          <a:prstGeom prst="rect">
            <a:avLst/>
          </a:prstGeom>
          <a:noFill/>
          <a:ln/>
        </p:spPr>
        <p:txBody>
          <a:bodyPr wrap="square" rtlCol="0"/>
          <a:lstStyle>
            <a:lvl1pPr marL="0" indent="0" algn="l">
              <a:buNone/>
              <a:defRPr lang="en-US" sz="1600" b="1" dirty="0">
                <a:solidFill>
                  <a:schemeClr val="tx1"/>
                </a:solidFill>
              </a:defRPr>
            </a:lvl1pPr>
          </a:lstStyle>
          <a:p>
            <a:pPr marL="0" indent="0" algn="l">
              <a:buNone/>
            </a:pPr>
            <a:endParaRPr lang="en-US" sz="1600" dirty="0"/>
          </a:p>
        </p:txBody>
      </p:sp>
      <p:sp>
        <p:nvSpPr>
          <p:cNvPr id="3" name="Text 0"/>
          <p:cNvSpPr>
            <a:spLocks noGrp="1"/>
          </p:cNvSpPr>
          <p:nvPr>
            <p:ph type="title" idx="101" hasCustomPrompt="1"/>
          </p:nvPr>
        </p:nvSpPr>
        <p:spPr>
          <a:xfrm>
            <a:off x="548640" y="1965960"/>
            <a:ext cx="11094415" cy="2011680"/>
          </a:xfrm>
          <a:prstGeom prst="rect">
            <a:avLst/>
          </a:prstGeom>
          <a:noFill/>
          <a:ln/>
        </p:spPr>
        <p:txBody>
          <a:bodyPr wrap="square" rtlCol="0"/>
          <a:lstStyle>
            <a:lvl1pPr marL="0" indent="0" algn="l">
              <a:buNone/>
              <a:defRPr lang="en-US" sz="5400" b="1" dirty="0">
                <a:solidFill>
                  <a:schemeClr val="tx1"/>
                </a:solidFill>
              </a:defRPr>
            </a:lvl1pPr>
          </a:lstStyle>
          <a:p>
            <a:pPr marL="0" indent="0" algn="l">
              <a:buNone/>
            </a:pPr>
            <a:endParaRPr lang="en-US" sz="5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ck"/>
          <p:cNvSpPr txBox="1"/>
          <p:nvPr/>
        </p:nvSpPr>
        <p:spPr>
          <a:xfrm>
            <a:off x="548640" y="640080"/>
            <a:ext cx="11094415" cy="365760"/>
          </a:xfrm>
          <a:prstGeom prst="rect">
            <a:avLst/>
          </a:prstGeom>
          <a:noFill/>
          <a:ln/>
        </p:spPr>
        <p:txBody>
          <a:bodyPr wrap="square" lIns="0" tIns="0" rIns="0" bIns="0" rtlCol="0" anchor="ctr"/>
          <a:lstStyle/>
          <a:p>
            <a:pPr marL="0" indent="0">
              <a:buNone/>
            </a:pPr>
            <a:r>
              <a:rPr lang="en-US" sz="1400" b="1" kern="0" spc="400" dirty="0">
                <a:solidFill>
                  <a:schemeClr val="accent1"/>
                </a:solidFill>
              </a:rPr>
              <a:t>PLANET TRACK · CLIMATE RESILIENCE</a:t>
            </a:r>
            <a:endParaRPr lang="en-US" sz="1400" dirty="0"/>
          </a:p>
        </p:txBody>
      </p:sp>
      <p:sp>
        <p:nvSpPr>
          <p:cNvPr id="3" name="Name"/>
          <p:cNvSpPr txBox="1"/>
          <p:nvPr/>
        </p:nvSpPr>
        <p:spPr>
          <a:xfrm>
            <a:off x="548640" y="1371600"/>
            <a:ext cx="11094415" cy="1463040"/>
          </a:xfrm>
          <a:prstGeom prst="rect">
            <a:avLst/>
          </a:prstGeom>
          <a:noFill/>
          <a:ln/>
        </p:spPr>
        <p:txBody>
          <a:bodyPr wrap="square" lIns="0" tIns="0" rIns="0" bIns="0" rtlCol="0" anchor="ctr"/>
          <a:lstStyle/>
          <a:p>
            <a:pPr marL="0" indent="0">
              <a:buNone/>
            </a:pPr>
            <a:r>
              <a:rPr lang="en-US" sz="11000" b="1" dirty="0">
                <a:solidFill>
                  <a:schemeClr val="bg2"/>
                </a:solidFill>
                <a:latin typeface="+mj-lt" pitchFamily="34" charset="0"/>
                <a:ea typeface="+mj-lt" pitchFamily="34" charset="-122"/>
                <a:cs typeface="+mj-lt" pitchFamily="34" charset="-120"/>
              </a:rPr>
              <a:t>Teduh</a:t>
            </a:r>
            <a:endParaRPr lang="en-US" sz="11000" dirty="0"/>
          </a:p>
        </p:txBody>
      </p:sp>
      <p:sp>
        <p:nvSpPr>
          <p:cNvPr id="4" name="Tagline"/>
          <p:cNvSpPr txBox="1"/>
          <p:nvPr/>
        </p:nvSpPr>
        <p:spPr>
          <a:xfrm>
            <a:off x="548640" y="2880360"/>
            <a:ext cx="11094415" cy="640080"/>
          </a:xfrm>
          <a:prstGeom prst="rect">
            <a:avLst/>
          </a:prstGeom>
          <a:noFill/>
          <a:ln/>
        </p:spPr>
        <p:txBody>
          <a:bodyPr wrap="square" lIns="0" tIns="0" rIns="0" bIns="0" rtlCol="0" anchor="ctr"/>
          <a:lstStyle/>
          <a:p>
            <a:pPr marL="0" indent="0">
              <a:buNone/>
            </a:pPr>
            <a:r>
              <a:rPr lang="en-US" sz="3400" i="1" dirty="0">
                <a:solidFill>
                  <a:schemeClr val="bg2"/>
                </a:solidFill>
                <a:latin typeface="+mj-lt" pitchFamily="34" charset="0"/>
                <a:ea typeface="+mj-lt" pitchFamily="34" charset="-122"/>
                <a:cs typeface="+mj-lt" pitchFamily="34" charset="-120"/>
              </a:rPr>
              <a:t>Small changes. Cooler journeys.</a:t>
            </a:r>
            <a:endParaRPr lang="en-US" sz="3400" dirty="0"/>
          </a:p>
        </p:txBody>
      </p:sp>
      <p:sp>
        <p:nvSpPr>
          <p:cNvPr id="5" name="Promise"/>
          <p:cNvSpPr txBox="1"/>
          <p:nvPr/>
        </p:nvSpPr>
        <p:spPr>
          <a:xfrm>
            <a:off x="548640" y="3657600"/>
            <a:ext cx="7680960" cy="914400"/>
          </a:xfrm>
          <a:prstGeom prst="rect">
            <a:avLst/>
          </a:prstGeom>
          <a:noFill/>
          <a:ln/>
        </p:spPr>
        <p:txBody>
          <a:bodyPr wrap="square" lIns="0" tIns="0" rIns="0" bIns="0" rtlCol="0" anchor="ctr"/>
          <a:lstStyle/>
          <a:p>
            <a:pPr marL="0" indent="0">
              <a:buNone/>
            </a:pPr>
            <a:r>
              <a:rPr lang="en-US" sz="1800" dirty="0">
                <a:solidFill>
                  <a:schemeClr val="accent4"/>
                </a:solidFill>
              </a:rPr>
              <a:t>A map that shows a township where its next ringgit of shade, a tree row or a covered walkway, helps the most people walking every day.</a:t>
            </a:r>
            <a:endParaRPr lang="en-US" sz="1800" dirty="0"/>
          </a:p>
        </p:txBody>
      </p:sp>
      <p:sp>
        <p:nvSpPr>
          <p:cNvPr id="6" name="Presenters"/>
          <p:cNvSpPr txBox="1"/>
          <p:nvPr/>
        </p:nvSpPr>
        <p:spPr>
          <a:xfrm>
            <a:off x="548640" y="5577840"/>
            <a:ext cx="6858000" cy="411480"/>
          </a:xfrm>
          <a:prstGeom prst="rect">
            <a:avLst/>
          </a:prstGeom>
          <a:noFill/>
          <a:ln/>
        </p:spPr>
        <p:txBody>
          <a:bodyPr wrap="square" lIns="0" tIns="0" rIns="0" bIns="0" rtlCol="0" anchor="ctr"/>
          <a:lstStyle/>
          <a:p>
            <a:pPr marL="0" indent="0">
              <a:buNone/>
            </a:pPr>
            <a:r>
              <a:rPr lang="en-US" sz="1800" b="1" dirty="0">
                <a:solidFill>
                  <a:schemeClr val="bg2"/>
                </a:solidFill>
              </a:rPr>
              <a:t>Hong Thien Gen, Evan Lo Jen Zhen</a:t>
            </a:r>
            <a:r>
              <a:rPr lang="en-US" sz="1800" dirty="0">
                <a:solidFill>
                  <a:schemeClr val="bg2"/>
                </a:solidFill>
              </a:rPr>
              <a:t> &amp; </a:t>
            </a:r>
            <a:r>
              <a:rPr lang="en-US" sz="1800" b="1" dirty="0">
                <a:solidFill>
                  <a:schemeClr val="bg2"/>
                </a:solidFill>
              </a:rPr>
              <a:t>Chang Juan Jue</a:t>
            </a:r>
            <a:r>
              <a:rPr lang="en-US" sz="1800" dirty="0">
                <a:solidFill>
                  <a:schemeClr val="bg2"/>
                </a:solidFill>
              </a:rPr>
              <a:t>  </a:t>
            </a:r>
          </a:p>
          <a:p>
            <a:pPr marL="0" indent="0">
              <a:buNone/>
            </a:pPr>
            <a:r>
              <a:rPr lang="en-US" sz="1800" dirty="0">
                <a:solidFill>
                  <a:schemeClr val="bg2"/>
                </a:solidFill>
              </a:rPr>
              <a:t>Team One · Mixed Universities</a:t>
            </a:r>
            <a:endParaRPr lang="en-US" sz="1800" dirty="0"/>
          </a:p>
        </p:txBody>
      </p:sp>
      <p:sp>
        <p:nvSpPr>
          <p:cNvPr id="7" name="Event"/>
          <p:cNvSpPr txBox="1"/>
          <p:nvPr/>
        </p:nvSpPr>
        <p:spPr>
          <a:xfrm>
            <a:off x="6949440" y="5623560"/>
            <a:ext cx="4693615" cy="365760"/>
          </a:xfrm>
          <a:prstGeom prst="rect">
            <a:avLst/>
          </a:prstGeom>
          <a:noFill/>
          <a:ln/>
        </p:spPr>
        <p:txBody>
          <a:bodyPr wrap="square" lIns="0" tIns="0" rIns="0" bIns="0" rtlCol="0" anchor="ctr"/>
          <a:lstStyle/>
          <a:p>
            <a:pPr marL="0" indent="0" algn="r">
              <a:buNone/>
            </a:pPr>
            <a:r>
              <a:rPr lang="en-US" sz="1200" dirty="0">
                <a:solidFill>
                  <a:schemeClr val="accent4"/>
                </a:solidFill>
              </a:rPr>
              <a:t>Sime Darby Property University Hackathon 2026 · Township of Tomorrow</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PROBLEM</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The walk from the station is the hottest part of the trip</a:t>
            </a:r>
            <a:endParaRPr lang="en-US" sz="3400" dirty="0"/>
          </a:p>
        </p:txBody>
      </p:sp>
      <p:sp>
        <p:nvSpPr>
          <p:cNvPr id="4" name="Walks per day card"/>
          <p:cNvSpPr/>
          <p:nvPr/>
        </p:nvSpPr>
        <p:spPr>
          <a:xfrm>
            <a:off x="548640" y="2148840"/>
            <a:ext cx="3291840" cy="2743200"/>
          </a:xfrm>
          <a:prstGeom prst="roundRect">
            <a:avLst>
              <a:gd name="adj" fmla="val 4000"/>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5" name="Walks per day"/>
          <p:cNvSpPr txBox="1"/>
          <p:nvPr/>
        </p:nvSpPr>
        <p:spPr>
          <a:xfrm>
            <a:off x="868680" y="2377440"/>
            <a:ext cx="2651760" cy="2377440"/>
          </a:xfrm>
          <a:prstGeom prst="rect">
            <a:avLst/>
          </a:prstGeom>
          <a:noFill/>
          <a:ln/>
        </p:spPr>
        <p:txBody>
          <a:bodyPr wrap="square" lIns="0" tIns="0" rIns="0" bIns="0" rtlCol="0" anchor="t"/>
          <a:lstStyle/>
          <a:p>
            <a:pPr marL="0" indent="0">
              <a:spcAft>
                <a:spcPts val="600"/>
              </a:spcAft>
              <a:buNone/>
            </a:pPr>
            <a:r>
              <a:rPr lang="en-US" sz="6600" b="1" dirty="0">
                <a:solidFill>
                  <a:schemeClr val="tx1"/>
                </a:solidFill>
                <a:latin typeface="+mj-lt" pitchFamily="34" charset="0"/>
                <a:ea typeface="+mj-lt" pitchFamily="34" charset="-122"/>
                <a:cs typeface="+mj-lt" pitchFamily="34" charset="-120"/>
              </a:rPr>
              <a:t>592</a:t>
            </a:r>
            <a:endParaRPr lang="en-US" sz="6600" dirty="0"/>
          </a:p>
          <a:p>
            <a:pPr marL="0" indent="0">
              <a:spcAft>
                <a:spcPts val="600"/>
              </a:spcAft>
              <a:buNone/>
            </a:pPr>
            <a:r>
              <a:rPr lang="en-US" sz="1700" dirty="0">
                <a:solidFill>
                  <a:schemeClr val="tx2"/>
                </a:solidFill>
              </a:rPr>
              <a:t>walks a day from SS15 LRT station to the mall, scaled from real ticket-gate counts</a:t>
            </a:r>
            <a:endParaRPr lang="en-US" sz="6600" dirty="0"/>
          </a:p>
        </p:txBody>
      </p:sp>
      <p:sp>
        <p:nvSpPr>
          <p:cNvPr id="6" name="Exposed stretch card"/>
          <p:cNvSpPr/>
          <p:nvPr/>
        </p:nvSpPr>
        <p:spPr>
          <a:xfrm>
            <a:off x="4114800" y="2148840"/>
            <a:ext cx="3291840" cy="2743200"/>
          </a:xfrm>
          <a:prstGeom prst="roundRect">
            <a:avLst>
              <a:gd name="adj" fmla="val 4000"/>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7" name="Exposed stretch"/>
          <p:cNvSpPr txBox="1"/>
          <p:nvPr/>
        </p:nvSpPr>
        <p:spPr>
          <a:xfrm>
            <a:off x="4434840" y="2377440"/>
            <a:ext cx="2651760" cy="2377440"/>
          </a:xfrm>
          <a:prstGeom prst="rect">
            <a:avLst/>
          </a:prstGeom>
          <a:noFill/>
          <a:ln/>
        </p:spPr>
        <p:txBody>
          <a:bodyPr wrap="square" lIns="0" tIns="0" rIns="0" bIns="0" rtlCol="0" anchor="t"/>
          <a:lstStyle/>
          <a:p>
            <a:pPr marL="0" indent="0">
              <a:spcAft>
                <a:spcPts val="600"/>
              </a:spcAft>
              <a:buNone/>
            </a:pPr>
            <a:r>
              <a:rPr lang="en-US" sz="6600" b="1" dirty="0">
                <a:solidFill>
                  <a:schemeClr val="accent3"/>
                </a:solidFill>
                <a:latin typeface="+mj-lt" pitchFamily="34" charset="0"/>
                <a:ea typeface="+mj-lt" pitchFamily="34" charset="-122"/>
                <a:cs typeface="+mj-lt" pitchFamily="34" charset="-120"/>
              </a:rPr>
              <a:t>218 m</a:t>
            </a:r>
            <a:endParaRPr lang="en-US" sz="6600" dirty="0"/>
          </a:p>
          <a:p>
            <a:pPr marL="0" indent="0">
              <a:spcAft>
                <a:spcPts val="600"/>
              </a:spcAft>
              <a:buNone/>
            </a:pPr>
            <a:r>
              <a:rPr lang="en-US" sz="1700" dirty="0">
                <a:solidFill>
                  <a:schemeClr val="tx2"/>
                </a:solidFill>
              </a:rPr>
              <a:t>of that walk in one unbroken stretch of direct sun at 2 pm</a:t>
            </a:r>
            <a:endParaRPr lang="en-US" sz="6600" dirty="0"/>
          </a:p>
        </p:txBody>
      </p:sp>
      <p:sp>
        <p:nvSpPr>
          <p:cNvPr id="8" name="Why it matters"/>
          <p:cNvSpPr txBox="1"/>
          <p:nvPr/>
        </p:nvSpPr>
        <p:spPr>
          <a:xfrm>
            <a:off x="8001000" y="2377440"/>
            <a:ext cx="3642055" cy="2926080"/>
          </a:xfrm>
          <a:prstGeom prst="rect">
            <a:avLst/>
          </a:prstGeom>
          <a:noFill/>
          <a:ln/>
        </p:spPr>
        <p:txBody>
          <a:bodyPr wrap="square" lIns="0" tIns="0" rIns="0" bIns="0" rtlCol="0" anchor="ctr"/>
          <a:lstStyle/>
          <a:p>
            <a:pPr marL="0" indent="0">
              <a:buNone/>
            </a:pPr>
            <a:r>
              <a:rPr lang="en-US" sz="2000" dirty="0">
                <a:solidFill>
                  <a:schemeClr val="tx1"/>
                </a:solidFill>
              </a:rPr>
              <a:t>A township can have trees and footpaths and </a:t>
            </a:r>
            <a:r>
              <a:rPr lang="en-US" sz="2000" b="1" dirty="0">
                <a:solidFill>
                  <a:schemeClr val="tx1"/>
                </a:solidFill>
              </a:rPr>
              <a:t>still leave exposed gaps between them.</a:t>
            </a:r>
            <a:endParaRPr lang="en-US" sz="2000" dirty="0"/>
          </a:p>
          <a:p>
            <a:pPr marL="0" indent="0">
              <a:buNone/>
            </a:pPr>
            <a:r>
              <a:rPr lang="en-US" sz="2000" dirty="0">
                <a:solidFill>
                  <a:schemeClr val="tx1"/>
                </a:solidFill>
              </a:rPr>
              <a:t> </a:t>
            </a:r>
            <a:endParaRPr lang="en-US" sz="2000" dirty="0"/>
          </a:p>
          <a:p>
            <a:pPr marL="0" indent="0">
              <a:buNone/>
            </a:pPr>
            <a:r>
              <a:rPr lang="en-US" sz="2000" dirty="0">
                <a:solidFill>
                  <a:schemeClr val="tx2"/>
                </a:solidFill>
              </a:rPr>
              <a:t>Managers have a small budget and no way to see which gap matters most.</a:t>
            </a:r>
            <a:endParaRPr lang="en-US" sz="2000" dirty="0"/>
          </a:p>
        </p:txBody>
      </p:sp>
      <p:sp>
        <p:nvSpPr>
          <p:cNvPr id="9" name="Footer note"/>
          <p:cNvSpPr txBox="1"/>
          <p:nvPr/>
        </p:nvSpPr>
        <p:spPr>
          <a:xfrm>
            <a:off x="548640" y="6236208"/>
            <a:ext cx="10362895" cy="320040"/>
          </a:xfrm>
          <a:prstGeom prst="rect">
            <a:avLst/>
          </a:prstGeom>
          <a:noFill/>
          <a:ln/>
        </p:spPr>
        <p:txBody>
          <a:bodyPr wrap="square" lIns="0" tIns="0" rIns="0" bIns="0" rtlCol="0" anchor="ctr"/>
          <a:lstStyle/>
          <a:p>
            <a:pPr marL="0" indent="0">
              <a:buNone/>
            </a:pPr>
            <a:r>
              <a:rPr lang="en-US" sz="1100" dirty="0">
                <a:solidFill>
                  <a:schemeClr val="tx2"/>
                </a:solidFill>
              </a:rPr>
              <a:t>SS 15, Subang Jaya. Walks modelled from OpenStreetMap and Prasarana ticket-gate data (about 5,165 exits on a weekday). Estimates, not measurements.</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TARGET USER</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“With our budget, which shade helps the most everyday walks?”</a:t>
            </a:r>
            <a:endParaRPr lang="en-US" sz="3400" dirty="0"/>
          </a:p>
        </p:txBody>
      </p:sp>
      <p:sp>
        <p:nvSpPr>
          <p:cNvPr id="4" name="Township managers card"/>
          <p:cNvSpPr/>
          <p:nvPr/>
        </p:nvSpPr>
        <p:spPr>
          <a:xfrm>
            <a:off x="548640" y="2240280"/>
            <a:ext cx="3515258" cy="2514600"/>
          </a:xfrm>
          <a:prstGeom prst="roundRect">
            <a:avLst>
              <a:gd name="adj" fmla="val 4364"/>
            </a:avLst>
          </a:prstGeom>
          <a:solidFill>
            <a:schemeClr val="tx1"/>
          </a:solidFill>
          <a:ln/>
          <a:effectLst>
            <a:outerShdw blurRad="127000" dist="38100" dir="5400000" algn="bl" rotWithShape="0">
              <a:srgbClr val="173D2E">
                <a:alpha val="14000"/>
              </a:srgbClr>
            </a:outerShdw>
          </a:effectLst>
        </p:spPr>
        <p:txBody>
          <a:bodyPr/>
          <a:lstStyle/>
          <a:p>
            <a:endParaRPr lang="en-MY"/>
          </a:p>
        </p:txBody>
      </p:sp>
      <p:sp>
        <p:nvSpPr>
          <p:cNvPr id="5" name="Township managers"/>
          <p:cNvSpPr txBox="1"/>
          <p:nvPr/>
        </p:nvSpPr>
        <p:spPr>
          <a:xfrm>
            <a:off x="868680" y="2514600"/>
            <a:ext cx="2875178" cy="2103120"/>
          </a:xfrm>
          <a:prstGeom prst="rect">
            <a:avLst/>
          </a:prstGeom>
          <a:noFill/>
          <a:ln/>
        </p:spPr>
        <p:txBody>
          <a:bodyPr wrap="square" lIns="0" tIns="0" rIns="0" bIns="0" rtlCol="0" anchor="t"/>
          <a:lstStyle/>
          <a:p>
            <a:pPr marL="0" indent="0">
              <a:spcAft>
                <a:spcPts val="1000"/>
              </a:spcAft>
              <a:buNone/>
            </a:pPr>
            <a:r>
              <a:rPr lang="en-US" sz="1300" b="1" kern="0" spc="200" dirty="0">
                <a:solidFill>
                  <a:schemeClr val="accent1"/>
                </a:solidFill>
              </a:rPr>
              <a:t>DECIDES</a:t>
            </a:r>
            <a:endParaRPr lang="en-US" sz="1300" dirty="0"/>
          </a:p>
          <a:p>
            <a:pPr marL="0" indent="0">
              <a:spcAft>
                <a:spcPts val="1000"/>
              </a:spcAft>
              <a:buNone/>
            </a:pPr>
            <a:r>
              <a:rPr lang="en-US" sz="2400" b="1" dirty="0">
                <a:solidFill>
                  <a:schemeClr val="bg2"/>
                </a:solidFill>
                <a:latin typeface="+mj-lt" pitchFamily="34" charset="0"/>
                <a:ea typeface="+mj-lt" pitchFamily="34" charset="-122"/>
                <a:cs typeface="+mj-lt" pitchFamily="34" charset="-120"/>
              </a:rPr>
              <a:t>Township managers</a:t>
            </a:r>
            <a:endParaRPr lang="en-US" sz="1300" dirty="0"/>
          </a:p>
          <a:p>
            <a:pPr marL="0" indent="0">
              <a:spcAft>
                <a:spcPts val="1000"/>
              </a:spcAft>
              <a:buNone/>
            </a:pPr>
            <a:r>
              <a:rPr lang="en-US" sz="1600" dirty="0">
                <a:solidFill>
                  <a:schemeClr val="accent4"/>
                </a:solidFill>
              </a:rPr>
              <a:t>Set the budget and priorities, compare plans, choose what to build.</a:t>
            </a:r>
            <a:endParaRPr lang="en-US" sz="1300" dirty="0"/>
          </a:p>
        </p:txBody>
      </p:sp>
      <p:sp>
        <p:nvSpPr>
          <p:cNvPr id="6" name="Landscape &amp; maintenance teams card"/>
          <p:cNvSpPr/>
          <p:nvPr/>
        </p:nvSpPr>
        <p:spPr>
          <a:xfrm>
            <a:off x="4338218" y="2240280"/>
            <a:ext cx="3515258" cy="2514600"/>
          </a:xfrm>
          <a:prstGeom prst="roundRect">
            <a:avLst>
              <a:gd name="adj" fmla="val 4364"/>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7" name="Landscape &amp; maintenance teams"/>
          <p:cNvSpPr txBox="1"/>
          <p:nvPr/>
        </p:nvSpPr>
        <p:spPr>
          <a:xfrm>
            <a:off x="4658258" y="2514600"/>
            <a:ext cx="2875178" cy="2103120"/>
          </a:xfrm>
          <a:prstGeom prst="rect">
            <a:avLst/>
          </a:prstGeom>
          <a:noFill/>
          <a:ln/>
        </p:spPr>
        <p:txBody>
          <a:bodyPr wrap="square" lIns="0" tIns="0" rIns="0" bIns="0" rtlCol="0" anchor="t"/>
          <a:lstStyle/>
          <a:p>
            <a:pPr marL="0" indent="0">
              <a:spcAft>
                <a:spcPts val="1000"/>
              </a:spcAft>
              <a:buNone/>
            </a:pPr>
            <a:r>
              <a:rPr lang="en-US" sz="1300" b="1" kern="0" spc="200" dirty="0">
                <a:solidFill>
                  <a:schemeClr val="accent3"/>
                </a:solidFill>
              </a:rPr>
              <a:t>BUILDS</a:t>
            </a:r>
            <a:endParaRPr lang="en-US" sz="1300" dirty="0"/>
          </a:p>
          <a:p>
            <a:pPr marL="0" indent="0">
              <a:spcAft>
                <a:spcPts val="1000"/>
              </a:spcAft>
              <a:buNone/>
            </a:pPr>
            <a:r>
              <a:rPr lang="en-US" sz="2400" b="1" dirty="0">
                <a:solidFill>
                  <a:schemeClr val="tx1"/>
                </a:solidFill>
                <a:latin typeface="+mj-lt" pitchFamily="34" charset="0"/>
                <a:ea typeface="+mj-lt" pitchFamily="34" charset="-122"/>
                <a:cs typeface="+mj-lt" pitchFamily="34" charset="-120"/>
              </a:rPr>
              <a:t>Landscape &amp; maintenance teams</a:t>
            </a:r>
            <a:endParaRPr lang="en-US" sz="1300" dirty="0"/>
          </a:p>
          <a:p>
            <a:pPr marL="0" indent="0">
              <a:spcAft>
                <a:spcPts val="1000"/>
              </a:spcAft>
              <a:buNone/>
            </a:pPr>
            <a:r>
              <a:rPr lang="en-US" sz="1600" dirty="0">
                <a:solidFill>
                  <a:schemeClr val="tx2"/>
                </a:solidFill>
              </a:rPr>
              <a:t>Check the site, get a spec pack a contractor can quote from, update the map.</a:t>
            </a:r>
            <a:endParaRPr lang="en-US" sz="1300" dirty="0"/>
          </a:p>
        </p:txBody>
      </p:sp>
      <p:sp>
        <p:nvSpPr>
          <p:cNvPr id="8" name="Residents on foot card"/>
          <p:cNvSpPr/>
          <p:nvPr/>
        </p:nvSpPr>
        <p:spPr>
          <a:xfrm>
            <a:off x="8127797" y="2240280"/>
            <a:ext cx="3515258" cy="2514600"/>
          </a:xfrm>
          <a:prstGeom prst="roundRect">
            <a:avLst>
              <a:gd name="adj" fmla="val 4364"/>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9" name="Residents on foot"/>
          <p:cNvSpPr txBox="1"/>
          <p:nvPr/>
        </p:nvSpPr>
        <p:spPr>
          <a:xfrm>
            <a:off x="8447837" y="2514600"/>
            <a:ext cx="2875178" cy="2103120"/>
          </a:xfrm>
          <a:prstGeom prst="rect">
            <a:avLst/>
          </a:prstGeom>
          <a:noFill/>
          <a:ln/>
        </p:spPr>
        <p:txBody>
          <a:bodyPr wrap="square" lIns="0" tIns="0" rIns="0" bIns="0" rtlCol="0" anchor="t"/>
          <a:lstStyle/>
          <a:p>
            <a:pPr marL="0" indent="0">
              <a:spcAft>
                <a:spcPts val="1000"/>
              </a:spcAft>
              <a:buNone/>
            </a:pPr>
            <a:r>
              <a:rPr lang="en-US" sz="1300" b="1" kern="0" spc="200" dirty="0">
                <a:solidFill>
                  <a:schemeClr val="accent3"/>
                </a:solidFill>
              </a:rPr>
              <a:t>BENEFITS</a:t>
            </a:r>
            <a:endParaRPr lang="en-US" sz="1300" dirty="0"/>
          </a:p>
          <a:p>
            <a:pPr marL="0" indent="0">
              <a:spcAft>
                <a:spcPts val="1000"/>
              </a:spcAft>
              <a:buNone/>
            </a:pPr>
            <a:r>
              <a:rPr lang="en-US" sz="2400" b="1" dirty="0">
                <a:solidFill>
                  <a:schemeClr val="tx1"/>
                </a:solidFill>
                <a:latin typeface="+mj-lt" pitchFamily="34" charset="0"/>
                <a:ea typeface="+mj-lt" pitchFamily="34" charset="-122"/>
                <a:cs typeface="+mj-lt" pitchFamily="34" charset="-120"/>
              </a:rPr>
              <a:t>Residents on foot</a:t>
            </a:r>
            <a:endParaRPr lang="en-US" sz="1300" dirty="0"/>
          </a:p>
          <a:p>
            <a:pPr marL="0" indent="0">
              <a:spcAft>
                <a:spcPts val="1000"/>
              </a:spcAft>
              <a:buNone/>
            </a:pPr>
            <a:r>
              <a:rPr lang="en-US" sz="1600" dirty="0">
                <a:solidFill>
                  <a:schemeClr val="tx2"/>
                </a:solidFill>
              </a:rPr>
              <a:t>Students, commuters and older residents walking to the train, the bus, school and the shops.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SOLUTION</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Teduh picks the shade that helps most</a:t>
            </a:r>
            <a:endParaRPr lang="en-US" sz="3400" dirty="0"/>
          </a:p>
        </p:txBody>
      </p:sp>
      <p:sp>
        <p:nvSpPr>
          <p:cNvPr id="4" name="What it does"/>
          <p:cNvSpPr txBox="1"/>
          <p:nvPr/>
        </p:nvSpPr>
        <p:spPr>
          <a:xfrm>
            <a:off x="548640" y="2194560"/>
            <a:ext cx="4206240" cy="3291840"/>
          </a:xfrm>
          <a:prstGeom prst="rect">
            <a:avLst/>
          </a:prstGeom>
          <a:noFill/>
          <a:ln/>
        </p:spPr>
        <p:txBody>
          <a:bodyPr wrap="square" lIns="0" tIns="0" rIns="0" bIns="0" rtlCol="0" anchor="t"/>
          <a:lstStyle/>
          <a:p>
            <a:pPr marL="0" indent="0">
              <a:spcAft>
                <a:spcPts val="1800"/>
              </a:spcAft>
              <a:buNone/>
            </a:pPr>
            <a:r>
              <a:rPr lang="en-US" sz="2000" b="1" dirty="0">
                <a:solidFill>
                  <a:schemeClr val="tx1"/>
                </a:solidFill>
              </a:rPr>
              <a:t>Recommend </a:t>
            </a:r>
            <a:r>
              <a:rPr lang="en-US" sz="2000" dirty="0">
                <a:solidFill>
                  <a:schemeClr val="tx1"/>
                </a:solidFill>
              </a:rPr>
              <a:t>the best mix of tree rows and covered walkways for the budget.</a:t>
            </a:r>
            <a:endParaRPr lang="en-US" sz="2000" dirty="0"/>
          </a:p>
          <a:p>
            <a:pPr marL="0" indent="0">
              <a:spcAft>
                <a:spcPts val="1800"/>
              </a:spcAft>
              <a:buNone/>
            </a:pPr>
            <a:r>
              <a:rPr lang="en-US" sz="2000" b="1" dirty="0">
                <a:solidFill>
                  <a:schemeClr val="tx1"/>
                </a:solidFill>
              </a:rPr>
              <a:t>Show </a:t>
            </a:r>
            <a:r>
              <a:rPr lang="en-US" sz="2000" dirty="0">
                <a:solidFill>
                  <a:schemeClr val="tx1"/>
                </a:solidFill>
              </a:rPr>
              <a:t>before and after on the map, now and in ten years.</a:t>
            </a:r>
            <a:endParaRPr lang="en-US" sz="2000" dirty="0"/>
          </a:p>
          <a:p>
            <a:pPr marL="0" indent="0">
              <a:spcAft>
                <a:spcPts val="1800"/>
              </a:spcAft>
              <a:buNone/>
            </a:pPr>
            <a:r>
              <a:rPr lang="en-US" sz="2000" b="1" dirty="0">
                <a:solidFill>
                  <a:schemeClr val="tx1"/>
                </a:solidFill>
              </a:rPr>
              <a:t>Hand off </a:t>
            </a:r>
            <a:r>
              <a:rPr lang="en-US" sz="2000" dirty="0">
                <a:solidFill>
                  <a:schemeClr val="tx1"/>
                </a:solidFill>
              </a:rPr>
              <a:t>a bill of materials and a drawing for each item.</a:t>
            </a:r>
            <a:endParaRPr lang="en-US" sz="2000" dirty="0"/>
          </a:p>
        </p:txBody>
      </p:sp>
      <p:pic>
        <p:nvPicPr>
          <p:cNvPr id="5" name="Swipe screenshot" descr="Teduh map of SS 15 with the before and after swipe divider; amber paths are in sun, green paths are shaded by the plan"/>
          <p:cNvPicPr>
            <a:picLocks noChangeAspect="1"/>
          </p:cNvPicPr>
          <p:nvPr/>
        </p:nvPicPr>
        <p:blipFill>
          <a:blip r:embed="rId3"/>
          <a:stretch>
            <a:fillRect/>
          </a:stretch>
        </p:blipFill>
        <p:spPr>
          <a:xfrm>
            <a:off x="5120640" y="2057400"/>
            <a:ext cx="6519672" cy="407479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1463040"/>
            <a:ext cx="11094415" cy="411480"/>
          </a:xfrm>
          <a:prstGeom prst="rect">
            <a:avLst/>
          </a:prstGeom>
          <a:noFill/>
          <a:ln/>
        </p:spPr>
        <p:txBody>
          <a:bodyPr wrap="square" lIns="0" tIns="0" rIns="0" bIns="0" rtlCol="0"/>
          <a:lstStyle/>
          <a:p>
            <a:pPr marL="0" indent="0" algn="l">
              <a:buNone/>
            </a:pPr>
            <a:r>
              <a:rPr lang="en-US" sz="1600" b="1" kern="0" spc="400" dirty="0">
                <a:solidFill>
                  <a:schemeClr val="tx1"/>
                </a:solidFill>
              </a:rPr>
              <a:t>LIVE DEMO · 2 MINUTES</a:t>
            </a:r>
            <a:endParaRPr lang="en-US" sz="1600" dirty="0"/>
          </a:p>
        </p:txBody>
      </p:sp>
      <p:sp>
        <p:nvSpPr>
          <p:cNvPr id="3" name="Text 0"/>
          <p:cNvSpPr>
            <a:spLocks noGrp="1"/>
          </p:cNvSpPr>
          <p:nvPr>
            <p:ph type="title" idx="101" hasCustomPrompt="1"/>
          </p:nvPr>
        </p:nvSpPr>
        <p:spPr>
          <a:xfrm>
            <a:off x="548640" y="1965960"/>
            <a:ext cx="11094415" cy="2011680"/>
          </a:xfrm>
          <a:prstGeom prst="rect">
            <a:avLst/>
          </a:prstGeom>
          <a:noFill/>
          <a:ln/>
        </p:spPr>
        <p:txBody>
          <a:bodyPr wrap="square" lIns="0" tIns="0" rIns="0" bIns="0" rtlCol="0" anchor="t"/>
          <a:lstStyle/>
          <a:p>
            <a:pPr marL="0" indent="0" algn="l">
              <a:buNone/>
            </a:pPr>
            <a:r>
              <a:rPr lang="en-US" sz="5400" b="1" dirty="0">
                <a:solidFill>
                  <a:schemeClr val="tx1"/>
                </a:solidFill>
              </a:rPr>
              <a:t>2 pm. LRT station to the mall.</a:t>
            </a:r>
            <a:endParaRPr lang="en-US" sz="5400" dirty="0"/>
          </a:p>
          <a:p>
            <a:pPr marL="0" indent="0" algn="l">
              <a:buNone/>
            </a:pPr>
            <a:r>
              <a:rPr lang="en-US" sz="5400" b="1" dirty="0">
                <a:solidFill>
                  <a:schemeClr val="tx1"/>
                </a:solidFill>
              </a:rPr>
              <a:t>RM 100,000.</a:t>
            </a:r>
            <a:endParaRPr lang="en-US" sz="5400" dirty="0"/>
          </a:p>
        </p:txBody>
      </p:sp>
      <p:sp>
        <p:nvSpPr>
          <p:cNvPr id="4" name="Step 1"/>
          <p:cNvSpPr/>
          <p:nvPr/>
        </p:nvSpPr>
        <p:spPr>
          <a:xfrm>
            <a:off x="548640" y="4343400"/>
            <a:ext cx="2072579" cy="777240"/>
          </a:xfrm>
          <a:prstGeom prst="roundRect">
            <a:avLst>
              <a:gd name="adj" fmla="val 47059"/>
            </a:avLst>
          </a:prstGeom>
          <a:solidFill>
            <a:schemeClr val="tx1"/>
          </a:solidFill>
          <a:ln/>
        </p:spPr>
        <p:txBody>
          <a:bodyPr wrap="square" lIns="1016" tIns="1016" rIns="1016" bIns="1016" rtlCol="0" anchor="ctr"/>
          <a:lstStyle/>
          <a:p>
            <a:pPr marL="0" indent="0" algn="ctr">
              <a:buNone/>
            </a:pPr>
            <a:r>
              <a:rPr lang="en-US" sz="1500" dirty="0">
                <a:solidFill>
                  <a:schemeClr val="bg2"/>
                </a:solidFill>
              </a:rPr>
              <a:t>Recommend a plan</a:t>
            </a:r>
            <a:endParaRPr lang="en-US" sz="1500" dirty="0"/>
          </a:p>
        </p:txBody>
      </p:sp>
      <p:sp>
        <p:nvSpPr>
          <p:cNvPr id="5" name="Step 2"/>
          <p:cNvSpPr/>
          <p:nvPr/>
        </p:nvSpPr>
        <p:spPr>
          <a:xfrm>
            <a:off x="2804099" y="4343400"/>
            <a:ext cx="2072579" cy="777240"/>
          </a:xfrm>
          <a:prstGeom prst="roundRect">
            <a:avLst>
              <a:gd name="adj" fmla="val 47059"/>
            </a:avLst>
          </a:prstGeom>
          <a:solidFill>
            <a:schemeClr val="tx1"/>
          </a:solidFill>
          <a:ln/>
        </p:spPr>
        <p:txBody>
          <a:bodyPr wrap="square" lIns="1016" tIns="1016" rIns="1016" bIns="1016" rtlCol="0" anchor="ctr"/>
          <a:lstStyle/>
          <a:p>
            <a:pPr marL="0" indent="0" algn="ctr">
              <a:buNone/>
            </a:pPr>
            <a:r>
              <a:rPr lang="en-US" sz="1500" dirty="0">
                <a:solidFill>
                  <a:schemeClr val="bg2"/>
                </a:solidFill>
              </a:rPr>
              <a:t>Swipe before / after</a:t>
            </a:r>
            <a:endParaRPr lang="en-US" sz="1500" dirty="0"/>
          </a:p>
        </p:txBody>
      </p:sp>
      <p:sp>
        <p:nvSpPr>
          <p:cNvPr id="6" name="Step 3"/>
          <p:cNvSpPr/>
          <p:nvPr/>
        </p:nvSpPr>
        <p:spPr>
          <a:xfrm>
            <a:off x="5059558" y="4343400"/>
            <a:ext cx="2072579" cy="777240"/>
          </a:xfrm>
          <a:prstGeom prst="roundRect">
            <a:avLst>
              <a:gd name="adj" fmla="val 47059"/>
            </a:avLst>
          </a:prstGeom>
          <a:solidFill>
            <a:schemeClr val="tx1"/>
          </a:solidFill>
          <a:ln/>
        </p:spPr>
        <p:txBody>
          <a:bodyPr wrap="square" lIns="1016" tIns="1016" rIns="1016" bIns="1016" rtlCol="0" anchor="ctr"/>
          <a:lstStyle/>
          <a:p>
            <a:pPr marL="0" indent="0" algn="ctr">
              <a:buNone/>
            </a:pPr>
            <a:r>
              <a:rPr lang="en-US" sz="1500" dirty="0">
                <a:solidFill>
                  <a:schemeClr val="bg2"/>
                </a:solidFill>
              </a:rPr>
              <a:t>Grow trees 10 years</a:t>
            </a:r>
            <a:endParaRPr lang="en-US" sz="1500" dirty="0"/>
          </a:p>
        </p:txBody>
      </p:sp>
      <p:sp>
        <p:nvSpPr>
          <p:cNvPr id="7" name="Step 4"/>
          <p:cNvSpPr/>
          <p:nvPr/>
        </p:nvSpPr>
        <p:spPr>
          <a:xfrm>
            <a:off x="7315017" y="4343400"/>
            <a:ext cx="2072579" cy="777240"/>
          </a:xfrm>
          <a:prstGeom prst="roundRect">
            <a:avLst>
              <a:gd name="adj" fmla="val 47059"/>
            </a:avLst>
          </a:prstGeom>
          <a:solidFill>
            <a:schemeClr val="tx1"/>
          </a:solidFill>
          <a:ln/>
        </p:spPr>
        <p:txBody>
          <a:bodyPr wrap="square" lIns="1016" tIns="1016" rIns="1016" bIns="1016" rtlCol="0" anchor="ctr"/>
          <a:lstStyle/>
          <a:p>
            <a:pPr marL="0" indent="0" algn="ctr">
              <a:buNone/>
            </a:pPr>
            <a:r>
              <a:rPr lang="en-US" sz="1500" dirty="0">
                <a:solidFill>
                  <a:schemeClr val="bg2"/>
                </a:solidFill>
              </a:rPr>
              <a:t>Open the spec pack</a:t>
            </a:r>
            <a:endParaRPr lang="en-US" sz="1500" dirty="0"/>
          </a:p>
        </p:txBody>
      </p:sp>
      <p:sp>
        <p:nvSpPr>
          <p:cNvPr id="8" name="Step 5"/>
          <p:cNvSpPr/>
          <p:nvPr/>
        </p:nvSpPr>
        <p:spPr>
          <a:xfrm>
            <a:off x="9570476" y="4343400"/>
            <a:ext cx="2072579" cy="777240"/>
          </a:xfrm>
          <a:prstGeom prst="roundRect">
            <a:avLst>
              <a:gd name="adj" fmla="val 47059"/>
            </a:avLst>
          </a:prstGeom>
          <a:solidFill>
            <a:schemeClr val="tx1"/>
          </a:solidFill>
          <a:ln/>
        </p:spPr>
        <p:txBody>
          <a:bodyPr wrap="square" lIns="1016" tIns="1016" rIns="1016" bIns="1016" rtlCol="0" anchor="ctr"/>
          <a:lstStyle/>
          <a:p>
            <a:pPr marL="0" indent="0" algn="ctr">
              <a:buNone/>
            </a:pPr>
            <a:r>
              <a:rPr lang="en-US" sz="1500" dirty="0">
                <a:solidFill>
                  <a:schemeClr val="bg2"/>
                </a:solidFill>
              </a:rPr>
              <a:t>Scan a path photo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HOW IT WORKS</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Open data in, a build pack out</a:t>
            </a:r>
            <a:endParaRPr lang="en-US" sz="3400" dirty="0"/>
          </a:p>
        </p:txBody>
      </p:sp>
      <p:sp>
        <p:nvSpPr>
          <p:cNvPr id="4" name="Map card"/>
          <p:cNvSpPr/>
          <p:nvPr/>
        </p:nvSpPr>
        <p:spPr>
          <a:xfrm>
            <a:off x="548640" y="2148840"/>
            <a:ext cx="1889699" cy="3063240"/>
          </a:xfrm>
          <a:prstGeom prst="roundRect">
            <a:avLst>
              <a:gd name="adj" fmla="val 5807"/>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5" name="Step 1 number"/>
          <p:cNvSpPr/>
          <p:nvPr/>
        </p:nvSpPr>
        <p:spPr>
          <a:xfrm>
            <a:off x="777240" y="2377440"/>
            <a:ext cx="502920" cy="502920"/>
          </a:xfrm>
          <a:prstGeom prst="ellipse">
            <a:avLst/>
          </a:prstGeom>
          <a:solidFill>
            <a:schemeClr val="accent5"/>
          </a:solid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6" name="Map text"/>
          <p:cNvSpPr txBox="1"/>
          <p:nvPr/>
        </p:nvSpPr>
        <p:spPr>
          <a:xfrm>
            <a:off x="777240" y="3063240"/>
            <a:ext cx="1432499" cy="201168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latin typeface="+mj-lt" pitchFamily="34" charset="0"/>
                <a:ea typeface="+mj-lt" pitchFamily="34" charset="-122"/>
                <a:cs typeface="+mj-lt" pitchFamily="34" charset="-120"/>
              </a:rPr>
              <a:t>Map</a:t>
            </a:r>
            <a:endParaRPr lang="en-US" sz="2000" dirty="0"/>
          </a:p>
          <a:p>
            <a:pPr marL="0" indent="0">
              <a:spcAft>
                <a:spcPts val="800"/>
              </a:spcAft>
              <a:buNone/>
            </a:pPr>
            <a:r>
              <a:rPr lang="en-US" sz="1400" dirty="0">
                <a:solidFill>
                  <a:schemeClr val="tx2"/>
                </a:solidFill>
              </a:rPr>
              <a:t>Streets and buildings from OpenStreetMap. Shade from the real sun position at 4 times of day.</a:t>
            </a:r>
            <a:endParaRPr lang="en-US" sz="2000" dirty="0"/>
          </a:p>
        </p:txBody>
      </p:sp>
      <p:sp>
        <p:nvSpPr>
          <p:cNvPr id="7" name="Arrow 1"/>
          <p:cNvSpPr/>
          <p:nvPr/>
        </p:nvSpPr>
        <p:spPr>
          <a:xfrm>
            <a:off x="2511491" y="3547872"/>
            <a:ext cx="265176" cy="274320"/>
          </a:xfrm>
          <a:prstGeom prst="rightArrow">
            <a:avLst/>
          </a:prstGeom>
          <a:solidFill>
            <a:schemeClr val="accent1"/>
          </a:solidFill>
          <a:ln/>
        </p:spPr>
        <p:txBody>
          <a:bodyPr/>
          <a:lstStyle/>
          <a:p>
            <a:endParaRPr lang="en-MY"/>
          </a:p>
        </p:txBody>
      </p:sp>
      <p:sp>
        <p:nvSpPr>
          <p:cNvPr id="8" name="Walks card"/>
          <p:cNvSpPr/>
          <p:nvPr/>
        </p:nvSpPr>
        <p:spPr>
          <a:xfrm>
            <a:off x="2849819" y="2148840"/>
            <a:ext cx="1889699" cy="3063240"/>
          </a:xfrm>
          <a:prstGeom prst="roundRect">
            <a:avLst>
              <a:gd name="adj" fmla="val 5807"/>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9" name="Step 2 number"/>
          <p:cNvSpPr/>
          <p:nvPr/>
        </p:nvSpPr>
        <p:spPr>
          <a:xfrm>
            <a:off x="3078419" y="2377440"/>
            <a:ext cx="502920" cy="502920"/>
          </a:xfrm>
          <a:prstGeom prst="ellipse">
            <a:avLst/>
          </a:prstGeom>
          <a:solidFill>
            <a:schemeClr val="accent5"/>
          </a:solid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0" name="Walks text"/>
          <p:cNvSpPr txBox="1"/>
          <p:nvPr/>
        </p:nvSpPr>
        <p:spPr>
          <a:xfrm>
            <a:off x="3078419" y="3063240"/>
            <a:ext cx="1432499" cy="201168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latin typeface="+mj-lt" pitchFamily="34" charset="0"/>
                <a:ea typeface="+mj-lt" pitchFamily="34" charset="-122"/>
                <a:cs typeface="+mj-lt" pitchFamily="34" charset="-120"/>
              </a:rPr>
              <a:t>Walks</a:t>
            </a:r>
            <a:endParaRPr lang="en-US" sz="2000" dirty="0"/>
          </a:p>
          <a:p>
            <a:pPr marL="0" indent="0">
              <a:spcAft>
                <a:spcPts val="800"/>
              </a:spcAft>
              <a:buNone/>
            </a:pPr>
            <a:r>
              <a:rPr lang="en-US" sz="1400" dirty="0">
                <a:solidFill>
                  <a:schemeClr val="tx2"/>
                </a:solidFill>
              </a:rPr>
              <a:t>Stations and bus stops to shops, school and clinic. Scaled to real ticket-gate counts.</a:t>
            </a:r>
            <a:endParaRPr lang="en-US" sz="2000" dirty="0"/>
          </a:p>
        </p:txBody>
      </p:sp>
      <p:sp>
        <p:nvSpPr>
          <p:cNvPr id="11" name="Arrow 2"/>
          <p:cNvSpPr/>
          <p:nvPr/>
        </p:nvSpPr>
        <p:spPr>
          <a:xfrm>
            <a:off x="4812670" y="3547872"/>
            <a:ext cx="265176" cy="274320"/>
          </a:xfrm>
          <a:prstGeom prst="rightArrow">
            <a:avLst/>
          </a:prstGeom>
          <a:solidFill>
            <a:schemeClr val="accent1"/>
          </a:solidFill>
          <a:ln/>
        </p:spPr>
        <p:txBody>
          <a:bodyPr/>
          <a:lstStyle/>
          <a:p>
            <a:endParaRPr lang="en-MY"/>
          </a:p>
        </p:txBody>
      </p:sp>
      <p:sp>
        <p:nvSpPr>
          <p:cNvPr id="12" name="Options card"/>
          <p:cNvSpPr/>
          <p:nvPr/>
        </p:nvSpPr>
        <p:spPr>
          <a:xfrm>
            <a:off x="5150998" y="2148840"/>
            <a:ext cx="1889699" cy="3063240"/>
          </a:xfrm>
          <a:prstGeom prst="roundRect">
            <a:avLst>
              <a:gd name="adj" fmla="val 5807"/>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13" name="Step 3 number"/>
          <p:cNvSpPr/>
          <p:nvPr/>
        </p:nvSpPr>
        <p:spPr>
          <a:xfrm>
            <a:off x="5379598" y="2377440"/>
            <a:ext cx="502920" cy="502920"/>
          </a:xfrm>
          <a:prstGeom prst="ellipse">
            <a:avLst/>
          </a:prstGeom>
          <a:solidFill>
            <a:schemeClr val="accent5"/>
          </a:solid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4" name="Options text"/>
          <p:cNvSpPr txBox="1"/>
          <p:nvPr/>
        </p:nvSpPr>
        <p:spPr>
          <a:xfrm>
            <a:off x="5379598" y="3063240"/>
            <a:ext cx="1432499" cy="201168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latin typeface="+mj-lt" pitchFamily="34" charset="0"/>
                <a:ea typeface="+mj-lt" pitchFamily="34" charset="-122"/>
                <a:cs typeface="+mj-lt" pitchFamily="34" charset="-120"/>
              </a:rPr>
              <a:t>Options</a:t>
            </a:r>
            <a:endParaRPr lang="en-US" sz="2000" dirty="0"/>
          </a:p>
          <a:p>
            <a:pPr marL="0" indent="0">
              <a:spcAft>
                <a:spcPts val="800"/>
              </a:spcAft>
              <a:buNone/>
            </a:pPr>
            <a:r>
              <a:rPr lang="en-US" sz="1400" dirty="0">
                <a:solidFill>
                  <a:schemeClr val="tx2"/>
                </a:solidFill>
              </a:rPr>
              <a:t>Tree rows and covered walkways on exposed gaps, priced from unit costs.</a:t>
            </a:r>
            <a:endParaRPr lang="en-US" sz="2000" dirty="0"/>
          </a:p>
        </p:txBody>
      </p:sp>
      <p:sp>
        <p:nvSpPr>
          <p:cNvPr id="15" name="Arrow 3"/>
          <p:cNvSpPr/>
          <p:nvPr/>
        </p:nvSpPr>
        <p:spPr>
          <a:xfrm>
            <a:off x="7113849" y="3547872"/>
            <a:ext cx="265176" cy="274320"/>
          </a:xfrm>
          <a:prstGeom prst="rightArrow">
            <a:avLst/>
          </a:prstGeom>
          <a:solidFill>
            <a:schemeClr val="accent1"/>
          </a:solidFill>
          <a:ln/>
        </p:spPr>
        <p:txBody>
          <a:bodyPr/>
          <a:lstStyle/>
          <a:p>
            <a:endParaRPr lang="en-MY"/>
          </a:p>
        </p:txBody>
      </p:sp>
      <p:sp>
        <p:nvSpPr>
          <p:cNvPr id="16" name="Optimise card"/>
          <p:cNvSpPr/>
          <p:nvPr/>
        </p:nvSpPr>
        <p:spPr>
          <a:xfrm>
            <a:off x="7452177" y="2148840"/>
            <a:ext cx="1889699" cy="3063240"/>
          </a:xfrm>
          <a:prstGeom prst="roundRect">
            <a:avLst>
              <a:gd name="adj" fmla="val 5807"/>
            </a:avLst>
          </a:prstGeom>
          <a:solidFill>
            <a:schemeClr val="tx1"/>
          </a:solidFill>
          <a:ln/>
          <a:effectLst>
            <a:outerShdw blurRad="127000" dist="38100" dir="5400000" algn="bl" rotWithShape="0">
              <a:srgbClr val="173D2E">
                <a:alpha val="14000"/>
              </a:srgbClr>
            </a:outerShdw>
          </a:effectLst>
        </p:spPr>
        <p:txBody>
          <a:bodyPr/>
          <a:lstStyle/>
          <a:p>
            <a:endParaRPr lang="en-MY"/>
          </a:p>
        </p:txBody>
      </p:sp>
      <p:sp>
        <p:nvSpPr>
          <p:cNvPr id="17" name="Step 4 number"/>
          <p:cNvSpPr/>
          <p:nvPr/>
        </p:nvSpPr>
        <p:spPr>
          <a:xfrm>
            <a:off x="7680777" y="2377440"/>
            <a:ext cx="502920" cy="502920"/>
          </a:xfrm>
          <a:prstGeom prst="ellipse">
            <a:avLst/>
          </a:prstGeom>
          <a:solidFill>
            <a:schemeClr val="accent1"/>
          </a:solid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18" name="Optimise text"/>
          <p:cNvSpPr txBox="1"/>
          <p:nvPr/>
        </p:nvSpPr>
        <p:spPr>
          <a:xfrm>
            <a:off x="7680777" y="3063240"/>
            <a:ext cx="1432499" cy="2011680"/>
          </a:xfrm>
          <a:prstGeom prst="rect">
            <a:avLst/>
          </a:prstGeom>
          <a:noFill/>
          <a:ln/>
        </p:spPr>
        <p:txBody>
          <a:bodyPr wrap="square" lIns="0" tIns="0" rIns="0" bIns="0" rtlCol="0" anchor="t"/>
          <a:lstStyle/>
          <a:p>
            <a:pPr marL="0" indent="0">
              <a:spcAft>
                <a:spcPts val="800"/>
              </a:spcAft>
              <a:buNone/>
            </a:pPr>
            <a:r>
              <a:rPr lang="en-US" sz="2000" b="1" dirty="0">
                <a:solidFill>
                  <a:schemeClr val="bg2"/>
                </a:solidFill>
                <a:latin typeface="+mj-lt" pitchFamily="34" charset="0"/>
                <a:ea typeface="+mj-lt" pitchFamily="34" charset="-122"/>
                <a:cs typeface="+mj-lt" pitchFamily="34" charset="-120"/>
              </a:rPr>
              <a:t>Optimise</a:t>
            </a:r>
            <a:endParaRPr lang="en-US" sz="2000" dirty="0"/>
          </a:p>
          <a:p>
            <a:pPr marL="0" indent="0">
              <a:spcAft>
                <a:spcPts val="800"/>
              </a:spcAft>
              <a:buNone/>
            </a:pPr>
            <a:r>
              <a:rPr lang="en-US" sz="1400" dirty="0">
                <a:solidFill>
                  <a:schemeClr val="accent4"/>
                </a:solidFill>
              </a:rPr>
              <a:t>Tries every affordable combination (up to 4,096) in under a second.</a:t>
            </a:r>
            <a:endParaRPr lang="en-US" sz="2000" dirty="0"/>
          </a:p>
        </p:txBody>
      </p:sp>
      <p:sp>
        <p:nvSpPr>
          <p:cNvPr id="19" name="Arrow 4"/>
          <p:cNvSpPr/>
          <p:nvPr/>
        </p:nvSpPr>
        <p:spPr>
          <a:xfrm>
            <a:off x="9415028" y="3547872"/>
            <a:ext cx="265176" cy="274320"/>
          </a:xfrm>
          <a:prstGeom prst="rightArrow">
            <a:avLst/>
          </a:prstGeom>
          <a:solidFill>
            <a:schemeClr val="accent1"/>
          </a:solidFill>
          <a:ln/>
        </p:spPr>
        <p:txBody>
          <a:bodyPr/>
          <a:lstStyle/>
          <a:p>
            <a:endParaRPr lang="en-MY"/>
          </a:p>
        </p:txBody>
      </p:sp>
      <p:sp>
        <p:nvSpPr>
          <p:cNvPr id="20" name="Hand off card"/>
          <p:cNvSpPr/>
          <p:nvPr/>
        </p:nvSpPr>
        <p:spPr>
          <a:xfrm>
            <a:off x="9753356" y="2148840"/>
            <a:ext cx="1889699" cy="3063240"/>
          </a:xfrm>
          <a:prstGeom prst="roundRect">
            <a:avLst>
              <a:gd name="adj" fmla="val 5807"/>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21" name="Step 5 number"/>
          <p:cNvSpPr/>
          <p:nvPr/>
        </p:nvSpPr>
        <p:spPr>
          <a:xfrm>
            <a:off x="9981956" y="2377440"/>
            <a:ext cx="502920" cy="502920"/>
          </a:xfrm>
          <a:prstGeom prst="ellipse">
            <a:avLst/>
          </a:prstGeom>
          <a:solidFill>
            <a:schemeClr val="accent5"/>
          </a:solid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2" name="Hand off text"/>
          <p:cNvSpPr txBox="1"/>
          <p:nvPr/>
        </p:nvSpPr>
        <p:spPr>
          <a:xfrm>
            <a:off x="9981956" y="3063240"/>
            <a:ext cx="1432499" cy="2011680"/>
          </a:xfrm>
          <a:prstGeom prst="rect">
            <a:avLst/>
          </a:prstGeom>
          <a:noFill/>
          <a:ln/>
        </p:spPr>
        <p:txBody>
          <a:bodyPr wrap="square" lIns="0" tIns="0" rIns="0" bIns="0" rtlCol="0" anchor="t"/>
          <a:lstStyle/>
          <a:p>
            <a:pPr marL="0" indent="0">
              <a:spcAft>
                <a:spcPts val="800"/>
              </a:spcAft>
              <a:buNone/>
            </a:pPr>
            <a:r>
              <a:rPr lang="en-US" sz="2000" b="1" dirty="0">
                <a:solidFill>
                  <a:schemeClr val="tx1"/>
                </a:solidFill>
                <a:latin typeface="+mj-lt" pitchFamily="34" charset="0"/>
                <a:ea typeface="+mj-lt" pitchFamily="34" charset="-122"/>
                <a:cs typeface="+mj-lt" pitchFamily="34" charset="-120"/>
              </a:rPr>
              <a:t>Hand off</a:t>
            </a:r>
            <a:endParaRPr lang="en-US" sz="2000" dirty="0"/>
          </a:p>
          <a:p>
            <a:pPr marL="0" indent="0">
              <a:spcAft>
                <a:spcPts val="800"/>
              </a:spcAft>
              <a:buNone/>
            </a:pPr>
            <a:r>
              <a:rPr lang="en-US" sz="1400" dirty="0">
                <a:solidFill>
                  <a:schemeClr val="tx2"/>
                </a:solidFill>
              </a:rPr>
              <a:t>Spec pack, bill of materials, CSV. Field photos update shade after a person confirms.</a:t>
            </a:r>
            <a:endParaRPr lang="en-US" sz="2000" dirty="0"/>
          </a:p>
        </p:txBody>
      </p:sp>
      <p:sp>
        <p:nvSpPr>
          <p:cNvPr id="23" name="Footer note"/>
          <p:cNvSpPr txBox="1"/>
          <p:nvPr/>
        </p:nvSpPr>
        <p:spPr>
          <a:xfrm>
            <a:off x="548640" y="6236208"/>
            <a:ext cx="10362895" cy="320040"/>
          </a:xfrm>
          <a:prstGeom prst="rect">
            <a:avLst/>
          </a:prstGeom>
          <a:noFill/>
          <a:ln/>
        </p:spPr>
        <p:txBody>
          <a:bodyPr wrap="square" lIns="0" tIns="0" rIns="0" bIns="0" rtlCol="0" anchor="ctr"/>
          <a:lstStyle/>
          <a:p>
            <a:pPr marL="0" indent="0">
              <a:buNone/>
            </a:pPr>
            <a:r>
              <a:rPr lang="en-US" sz="1100" dirty="0">
                <a:solidFill>
                  <a:schemeClr val="tx2"/>
                </a:solidFill>
              </a:rPr>
              <a:t>Score = pedestrian-hours in direct sun avoided per day, weighted by how many people make each walk. The maths is inspectable: no black box.</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1"/>
                </a:solidFill>
              </a:rPr>
              <a:t>IMPACT (SS 15 DEMO SCENARIO)</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bg2"/>
                </a:solidFill>
              </a:rPr>
              <a:t>One well-placed walkway does most of the work</a:t>
            </a:r>
            <a:endParaRPr lang="en-US" sz="3400" dirty="0"/>
          </a:p>
        </p:txBody>
      </p:sp>
      <p:sp>
        <p:nvSpPr>
          <p:cNvPr id="4" name="Impact 1"/>
          <p:cNvSpPr txBox="1"/>
          <p:nvPr/>
        </p:nvSpPr>
        <p:spPr>
          <a:xfrm>
            <a:off x="548640" y="2240280"/>
            <a:ext cx="3454298" cy="3291840"/>
          </a:xfrm>
          <a:prstGeom prst="rect">
            <a:avLst/>
          </a:prstGeom>
          <a:noFill/>
          <a:ln/>
        </p:spPr>
        <p:txBody>
          <a:bodyPr wrap="square" lIns="0" tIns="0" rIns="0" bIns="0" rtlCol="0" anchor="t"/>
          <a:lstStyle/>
          <a:p>
            <a:pPr marL="0" indent="0">
              <a:spcAft>
                <a:spcPts val="800"/>
              </a:spcAft>
              <a:buNone/>
            </a:pPr>
            <a:r>
              <a:rPr lang="en-US" sz="7200" b="1" dirty="0">
                <a:solidFill>
                  <a:schemeClr val="accent1"/>
                </a:solidFill>
                <a:latin typeface="+mj-lt" pitchFamily="34" charset="0"/>
                <a:ea typeface="+mj-lt" pitchFamily="34" charset="-122"/>
                <a:cs typeface="+mj-lt" pitchFamily="34" charset="-120"/>
              </a:rPr>
              <a:t>12.7</a:t>
            </a:r>
            <a:endParaRPr lang="en-US" sz="7200" dirty="0"/>
          </a:p>
          <a:p>
            <a:pPr marL="0" indent="0">
              <a:spcAft>
                <a:spcPts val="800"/>
              </a:spcAft>
              <a:buNone/>
            </a:pPr>
            <a:r>
              <a:rPr lang="en-US" sz="1700" dirty="0">
                <a:solidFill>
                  <a:schemeClr val="bg2"/>
                </a:solidFill>
              </a:rPr>
              <a:t>pedestrian-hours a day out of direct sun, for RM 94,100 (1 walkway + 17 trees)</a:t>
            </a:r>
            <a:endParaRPr lang="en-US" sz="7200" dirty="0"/>
          </a:p>
        </p:txBody>
      </p:sp>
      <p:sp>
        <p:nvSpPr>
          <p:cNvPr id="5" name="Impact 2"/>
          <p:cNvSpPr txBox="1"/>
          <p:nvPr/>
        </p:nvSpPr>
        <p:spPr>
          <a:xfrm>
            <a:off x="4368698" y="2240280"/>
            <a:ext cx="3454298" cy="3291840"/>
          </a:xfrm>
          <a:prstGeom prst="rect">
            <a:avLst/>
          </a:prstGeom>
          <a:noFill/>
          <a:ln/>
        </p:spPr>
        <p:txBody>
          <a:bodyPr wrap="square" lIns="0" tIns="0" rIns="0" bIns="0" rtlCol="0" anchor="t"/>
          <a:lstStyle/>
          <a:p>
            <a:pPr marL="0" indent="0">
              <a:spcAft>
                <a:spcPts val="800"/>
              </a:spcAft>
              <a:buNone/>
            </a:pPr>
            <a:r>
              <a:rPr lang="en-US" sz="7200" b="1" dirty="0">
                <a:solidFill>
                  <a:schemeClr val="accent1"/>
                </a:solidFill>
                <a:latin typeface="+mj-lt" pitchFamily="34" charset="0"/>
                <a:ea typeface="+mj-lt" pitchFamily="34" charset="-122"/>
                <a:cs typeface="+mj-lt" pitchFamily="34" charset="-120"/>
              </a:rPr>
              <a:t>149 m</a:t>
            </a:r>
            <a:endParaRPr lang="en-US" sz="7200" dirty="0"/>
          </a:p>
          <a:p>
            <a:pPr marL="0" indent="0">
              <a:spcAft>
                <a:spcPts val="800"/>
              </a:spcAft>
              <a:buNone/>
            </a:pPr>
            <a:r>
              <a:rPr lang="en-US" sz="1700" dirty="0">
                <a:solidFill>
                  <a:schemeClr val="bg2"/>
                </a:solidFill>
              </a:rPr>
              <a:t>longest sunny stretch on the station-to-mall walk, down from 218 m; 5 of 10 modelled walks improve</a:t>
            </a:r>
            <a:endParaRPr lang="en-US" sz="7200" dirty="0"/>
          </a:p>
        </p:txBody>
      </p:sp>
      <p:sp>
        <p:nvSpPr>
          <p:cNvPr id="6" name="Impact 3"/>
          <p:cNvSpPr txBox="1"/>
          <p:nvPr/>
        </p:nvSpPr>
        <p:spPr>
          <a:xfrm>
            <a:off x="8188757" y="2240280"/>
            <a:ext cx="3454298" cy="3291840"/>
          </a:xfrm>
          <a:prstGeom prst="rect">
            <a:avLst/>
          </a:prstGeom>
          <a:noFill/>
          <a:ln/>
        </p:spPr>
        <p:txBody>
          <a:bodyPr wrap="square" lIns="0" tIns="0" rIns="0" bIns="0" rtlCol="0" anchor="t"/>
          <a:lstStyle/>
          <a:p>
            <a:pPr marL="0" indent="0">
              <a:spcAft>
                <a:spcPts val="800"/>
              </a:spcAft>
              <a:buNone/>
            </a:pPr>
            <a:r>
              <a:rPr lang="en-US" sz="7200" b="1" dirty="0">
                <a:solidFill>
                  <a:schemeClr val="accent4"/>
                </a:solidFill>
                <a:latin typeface="+mj-lt" pitchFamily="34" charset="0"/>
                <a:ea typeface="+mj-lt" pitchFamily="34" charset="-122"/>
                <a:cs typeface="+mj-lt" pitchFamily="34" charset="-120"/>
              </a:rPr>
              <a:t>26.5</a:t>
            </a:r>
            <a:endParaRPr lang="en-US" sz="7200" dirty="0"/>
          </a:p>
          <a:p>
            <a:pPr marL="0" indent="0">
              <a:spcAft>
                <a:spcPts val="800"/>
              </a:spcAft>
              <a:buNone/>
            </a:pPr>
            <a:r>
              <a:rPr lang="en-US" sz="1700" dirty="0">
                <a:solidFill>
                  <a:schemeClr val="bg2"/>
                </a:solidFill>
              </a:rPr>
              <a:t>pedestrian-hours a day by year 10 from 58 trees alone, for RM 51,700, if they mature as modelled</a:t>
            </a:r>
            <a:endParaRPr lang="en-US" sz="7200" dirty="0"/>
          </a:p>
        </p:txBody>
      </p:sp>
      <p:sp>
        <p:nvSpPr>
          <p:cNvPr id="7" name="Footer note"/>
          <p:cNvSpPr txBox="1"/>
          <p:nvPr/>
        </p:nvSpPr>
        <p:spPr>
          <a:xfrm>
            <a:off x="548640" y="6236208"/>
            <a:ext cx="10362895" cy="320040"/>
          </a:xfrm>
          <a:prstGeom prst="rect">
            <a:avLst/>
          </a:prstGeom>
          <a:noFill/>
          <a:ln/>
        </p:spPr>
        <p:txBody>
          <a:bodyPr wrap="square" lIns="0" tIns="0" rIns="0" bIns="0" rtlCol="0" anchor="ctr"/>
          <a:lstStyle/>
          <a:p>
            <a:pPr marL="0" indent="0">
              <a:buNone/>
            </a:pPr>
            <a:r>
              <a:rPr lang="en-US" sz="1100" dirty="0">
                <a:solidFill>
                  <a:schemeClr val="accent4"/>
                </a:solidFill>
              </a:rPr>
              <a:t>All figures are model estimates from the prototype, not measurements. Shade is not the same as comfort or safety. A pilot measures the real effect.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INNOVATION</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Routing apps help a walker. Teduh helps a township build.</a:t>
            </a:r>
            <a:endParaRPr lang="en-US" sz="3400" dirty="0"/>
          </a:p>
        </p:txBody>
      </p:sp>
      <p:graphicFrame>
        <p:nvGraphicFramePr>
          <p:cNvPr id="9" name="Comparison"/>
          <p:cNvGraphicFramePr>
            <a:graphicFrameLocks noGrp="1"/>
          </p:cNvGraphicFramePr>
          <p:nvPr>
            <p:extLst>
              <p:ext uri="{D42A27DB-BD31-4B8C-83A1-F6EECF244321}">
                <p14:modId xmlns:p14="http://schemas.microsoft.com/office/powerpoint/2010/main" val="1579011935"/>
              </p:ext>
            </p:extLst>
          </p:nvPr>
        </p:nvGraphicFramePr>
        <p:xfrm>
          <a:off x="548640" y="2103120"/>
          <a:ext cx="11094415" cy="3389376"/>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059375">
                  <a:extLst>
                    <a:ext uri="{9D8B030D-6E8A-4147-A177-3AD203B41FA5}">
                      <a16:colId xmlns:a16="http://schemas.microsoft.com/office/drawing/2014/main" val="20002"/>
                    </a:ext>
                  </a:extLst>
                </a:gridCol>
              </a:tblGrid>
              <a:tr h="0">
                <a:tc>
                  <a:txBody>
                    <a:bodyPr/>
                    <a:lstStyle/>
                    <a:p>
                      <a:pPr marL="0" indent="0">
                        <a:buNone/>
                      </a:pPr>
                      <a:r>
                        <a:rPr lang="en-US" sz="1700" b="1" dirty="0">
                          <a:solidFill>
                            <a:srgbClr val="F7F3E8"/>
                          </a:solidFill>
                        </a:rPr>
                        <a:t> </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tc>
                  <a:txBody>
                    <a:bodyPr/>
                    <a:lstStyle/>
                    <a:p>
                      <a:pPr marL="0" indent="0">
                        <a:buNone/>
                      </a:pPr>
                      <a:r>
                        <a:rPr lang="en-US" sz="1700" b="1" dirty="0">
                          <a:solidFill>
                            <a:srgbClr val="F7F3E8"/>
                          </a:solidFill>
                        </a:rPr>
                        <a:t>Shade-aware routing (e.g. Undercover, Singapore)</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tc>
                  <a:txBody>
                    <a:bodyPr/>
                    <a:lstStyle/>
                    <a:p>
                      <a:pPr marL="0" indent="0">
                        <a:buNone/>
                      </a:pPr>
                      <a:r>
                        <a:rPr lang="en-US" sz="1700" b="1" dirty="0">
                          <a:solidFill>
                            <a:srgbClr val="E3A33B"/>
                          </a:solidFill>
                        </a:rPr>
                        <a:t>Teduh</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extLst>
                  <a:ext uri="{0D108BD9-81ED-4DB2-BD59-A6C34878D82A}">
                    <a16:rowId xmlns:a16="http://schemas.microsoft.com/office/drawing/2014/main" val="10000"/>
                  </a:ext>
                </a:extLst>
              </a:tr>
              <a:tr h="0">
                <a:tc>
                  <a:txBody>
                    <a:bodyPr/>
                    <a:lstStyle/>
                    <a:p>
                      <a:pPr marL="0" indent="0">
                        <a:buNone/>
                      </a:pPr>
                      <a:r>
                        <a:rPr lang="en-US" sz="1700" b="1" dirty="0">
                          <a:solidFill>
                            <a:srgbClr val="173D2E"/>
                          </a:solidFill>
                        </a:rPr>
                        <a:t>Question</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Which way should I walk?</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Where should we build shade first?</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extLst>
                  <a:ext uri="{0D108BD9-81ED-4DB2-BD59-A6C34878D82A}">
                    <a16:rowId xmlns:a16="http://schemas.microsoft.com/office/drawing/2014/main" val="10001"/>
                  </a:ext>
                </a:extLst>
              </a:tr>
              <a:tr h="0">
                <a:tc>
                  <a:txBody>
                    <a:bodyPr/>
                    <a:lstStyle/>
                    <a:p>
                      <a:pPr marL="0" indent="0">
                        <a:buNone/>
                      </a:pPr>
                      <a:r>
                        <a:rPr lang="en-US" sz="1700" b="1" dirty="0">
                          <a:solidFill>
                            <a:srgbClr val="173D2E"/>
                          </a:solidFill>
                        </a:rPr>
                        <a:t>Money</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tc>
                  <a:txBody>
                    <a:bodyPr/>
                    <a:lstStyle/>
                    <a:p>
                      <a:pPr marL="0" indent="0">
                        <a:buNone/>
                      </a:pPr>
                      <a:r>
                        <a:rPr lang="en-US" sz="1700" dirty="0">
                          <a:solidFill>
                            <a:srgbClr val="173D2E"/>
                          </a:solidFill>
                        </a:rPr>
                        <a:t>Not the focus</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tc>
                  <a:txBody>
                    <a:bodyPr/>
                    <a:lstStyle/>
                    <a:p>
                      <a:pPr marL="0" indent="0">
                        <a:buNone/>
                      </a:pPr>
                      <a:r>
                        <a:rPr lang="en-US" sz="1700" dirty="0">
                          <a:solidFill>
                            <a:srgbClr val="173D2E"/>
                          </a:solidFill>
                        </a:rPr>
                        <a:t>Every option priced: install and upkeep, within a budget</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extLst>
                  <a:ext uri="{0D108BD9-81ED-4DB2-BD59-A6C34878D82A}">
                    <a16:rowId xmlns:a16="http://schemas.microsoft.com/office/drawing/2014/main" val="10002"/>
                  </a:ext>
                </a:extLst>
              </a:tr>
              <a:tr h="0">
                <a:tc>
                  <a:txBody>
                    <a:bodyPr/>
                    <a:lstStyle/>
                    <a:p>
                      <a:pPr marL="0" indent="0">
                        <a:buNone/>
                      </a:pPr>
                      <a:r>
                        <a:rPr lang="en-US" sz="1700" b="1" dirty="0">
                          <a:solidFill>
                            <a:srgbClr val="173D2E"/>
                          </a:solidFill>
                        </a:rPr>
                        <a:t>Time</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Not the focus</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4 times of day, and trees growing over 10 years</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extLst>
                  <a:ext uri="{0D108BD9-81ED-4DB2-BD59-A6C34878D82A}">
                    <a16:rowId xmlns:a16="http://schemas.microsoft.com/office/drawing/2014/main" val="10003"/>
                  </a:ext>
                </a:extLst>
              </a:tr>
              <a:tr h="0">
                <a:tc>
                  <a:txBody>
                    <a:bodyPr/>
                    <a:lstStyle/>
                    <a:p>
                      <a:pPr marL="0" indent="0">
                        <a:buNone/>
                      </a:pPr>
                      <a:r>
                        <a:rPr lang="en-US" sz="1700" b="1" dirty="0">
                          <a:solidFill>
                            <a:srgbClr val="173D2E"/>
                          </a:solidFill>
                        </a:rPr>
                        <a:t>Output</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tc>
                  <a:txBody>
                    <a:bodyPr/>
                    <a:lstStyle/>
                    <a:p>
                      <a:pPr marL="0" indent="0">
                        <a:buNone/>
                      </a:pPr>
                      <a:r>
                        <a:rPr lang="en-US" sz="1700" dirty="0">
                          <a:solidFill>
                            <a:srgbClr val="173D2E"/>
                          </a:solidFill>
                        </a:rPr>
                        <a:t>A route</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tc>
                  <a:txBody>
                    <a:bodyPr/>
                    <a:lstStyle/>
                    <a:p>
                      <a:pPr marL="0" indent="0">
                        <a:buNone/>
                      </a:pPr>
                      <a:r>
                        <a:rPr lang="en-US" sz="1700" dirty="0">
                          <a:solidFill>
                            <a:srgbClr val="173D2E"/>
                          </a:solidFill>
                        </a:rPr>
                        <a:t>A spec pack a contractor can quote from</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1EADA"/>
                    </a:solidFill>
                  </a:tcPr>
                </a:tc>
                <a:extLst>
                  <a:ext uri="{0D108BD9-81ED-4DB2-BD59-A6C34878D82A}">
                    <a16:rowId xmlns:a16="http://schemas.microsoft.com/office/drawing/2014/main" val="10004"/>
                  </a:ext>
                </a:extLst>
              </a:tr>
              <a:tr h="0">
                <a:tc>
                  <a:txBody>
                    <a:bodyPr/>
                    <a:lstStyle/>
                    <a:p>
                      <a:pPr marL="0" indent="0">
                        <a:buNone/>
                      </a:pPr>
                      <a:r>
                        <a:rPr lang="en-US" sz="1700" b="1" dirty="0">
                          <a:solidFill>
                            <a:srgbClr val="173D2E"/>
                          </a:solidFill>
                        </a:rPr>
                        <a:t>Field data</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Not the focus</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tc>
                  <a:txBody>
                    <a:bodyPr/>
                    <a:lstStyle/>
                    <a:p>
                      <a:pPr marL="0" indent="0">
                        <a:buNone/>
                      </a:pPr>
                      <a:r>
                        <a:rPr lang="en-US" sz="1700" dirty="0">
                          <a:solidFill>
                            <a:srgbClr val="173D2E"/>
                          </a:solidFill>
                        </a:rPr>
                        <a:t>Photo → AI shade estimate → a person confirms</a:t>
                      </a:r>
                      <a:endParaRPr lang="en-US" sz="1700" dirty="0"/>
                    </a:p>
                  </a:txBody>
                  <a:tcPr marL="164592" marR="164592" marT="109728" marB="109728" anchor="ctr">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FFDF7"/>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FEASIBILITY</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It already runs, on any township</a:t>
            </a:r>
            <a:endParaRPr lang="en-US" sz="3400" dirty="0"/>
          </a:p>
        </p:txBody>
      </p:sp>
      <p:sp>
        <p:nvSpPr>
          <p:cNvPr id="4" name="Why it can ship"/>
          <p:cNvSpPr txBox="1"/>
          <p:nvPr/>
        </p:nvSpPr>
        <p:spPr>
          <a:xfrm>
            <a:off x="548640" y="2103120"/>
            <a:ext cx="4297680" cy="3840480"/>
          </a:xfrm>
          <a:prstGeom prst="rect">
            <a:avLst/>
          </a:prstGeom>
          <a:noFill/>
          <a:ln/>
        </p:spPr>
        <p:txBody>
          <a:bodyPr wrap="square" lIns="0" tIns="0" rIns="0" bIns="0" rtlCol="0" anchor="t"/>
          <a:lstStyle/>
          <a:p>
            <a:pPr marL="0" indent="0">
              <a:spcAft>
                <a:spcPts val="1400"/>
              </a:spcAft>
              <a:buNone/>
            </a:pPr>
            <a:r>
              <a:rPr lang="en-US" sz="1700" b="1" dirty="0">
                <a:solidFill>
                  <a:schemeClr val="tx1"/>
                </a:solidFill>
              </a:rPr>
              <a:t>15 Klang Valley areas built in,</a:t>
            </a:r>
            <a:r>
              <a:rPr lang="en-US" sz="1700" dirty="0">
                <a:solidFill>
                  <a:schemeClr val="tx1"/>
                </a:solidFill>
              </a:rPr>
              <a:t> and any other place in about 40 seconds. Right: Ara Damansara.</a:t>
            </a:r>
            <a:endParaRPr lang="en-US" sz="1700" dirty="0"/>
          </a:p>
          <a:p>
            <a:pPr marL="0" indent="0">
              <a:spcAft>
                <a:spcPts val="1400"/>
              </a:spcAft>
              <a:buNone/>
            </a:pPr>
            <a:r>
              <a:rPr lang="en-US" sz="1700" b="1" dirty="0">
                <a:solidFill>
                  <a:schemeClr val="tx1"/>
                </a:solidFill>
              </a:rPr>
              <a:t>Open data only:</a:t>
            </a:r>
            <a:r>
              <a:rPr lang="en-US" sz="1700" dirty="0">
                <a:solidFill>
                  <a:schemeClr val="tx1"/>
                </a:solidFill>
              </a:rPr>
              <a:t> OpenStreetMap and data.gov.my ridership. No sensors to install.</a:t>
            </a:r>
            <a:endParaRPr lang="en-US" sz="1700" dirty="0"/>
          </a:p>
          <a:p>
            <a:pPr marL="0" indent="0">
              <a:spcAft>
                <a:spcPts val="1400"/>
              </a:spcAft>
              <a:buNone/>
            </a:pPr>
            <a:r>
              <a:rPr lang="en-US" sz="1700" b="1" dirty="0">
                <a:solidFill>
                  <a:schemeClr val="tx1"/>
                </a:solidFill>
              </a:rPr>
              <a:t>AI runs on a laptop</a:t>
            </a:r>
            <a:r>
              <a:rPr lang="en-US" sz="1700" dirty="0">
                <a:solidFill>
                  <a:schemeClr val="tx1"/>
                </a:solidFill>
              </a:rPr>
              <a:t> (an open vision model via Ollama), so photos stay local and cost nothing per call.</a:t>
            </a:r>
            <a:endParaRPr lang="en-US" sz="1700" dirty="0"/>
          </a:p>
          <a:p>
            <a:pPr marL="0" indent="0">
              <a:spcAft>
                <a:spcPts val="1400"/>
              </a:spcAft>
              <a:buNone/>
            </a:pPr>
            <a:r>
              <a:rPr lang="en-US" sz="1700" b="1" dirty="0">
                <a:solidFill>
                  <a:schemeClr val="tx1"/>
                </a:solidFill>
              </a:rPr>
              <a:t>515 automated tests.</a:t>
            </a:r>
            <a:r>
              <a:rPr lang="en-US" sz="1700" dirty="0">
                <a:solidFill>
                  <a:schemeClr val="tx1"/>
                </a:solidFill>
              </a:rPr>
              <a:t> Unit costs are editable, so quotes replace estimates.</a:t>
            </a:r>
            <a:endParaRPr lang="en-US" sz="1700" dirty="0"/>
          </a:p>
        </p:txBody>
      </p:sp>
      <p:pic>
        <p:nvPicPr>
          <p:cNvPr id="5" name="Ara Damansara screenshot" descr="Teduh after looking up Ara Damansara live: streets, bus stops, schools and the shopping mall with a recommended plan"/>
          <p:cNvPicPr>
            <a:picLocks noChangeAspect="1"/>
          </p:cNvPicPr>
          <p:nvPr/>
        </p:nvPicPr>
        <p:blipFill>
          <a:blip r:embed="rId3"/>
          <a:stretch>
            <a:fillRect/>
          </a:stretch>
        </p:blipFill>
        <p:spPr>
          <a:xfrm>
            <a:off x="5120640" y="2057400"/>
            <a:ext cx="6519672" cy="407479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IMPLEMENTATION</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Pilot one SDP township, then scale to 28</a:t>
            </a:r>
            <a:endParaRPr lang="en-US" sz="3400" dirty="0"/>
          </a:p>
        </p:txBody>
      </p:sp>
      <p:sp>
        <p:nvSpPr>
          <p:cNvPr id="4" name="Survey card"/>
          <p:cNvSpPr/>
          <p:nvPr/>
        </p:nvSpPr>
        <p:spPr>
          <a:xfrm>
            <a:off x="548640" y="2011680"/>
            <a:ext cx="3515258" cy="1783080"/>
          </a:xfrm>
          <a:prstGeom prst="roundRect">
            <a:avLst>
              <a:gd name="adj" fmla="val 6154"/>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5" name="Survey text"/>
          <p:cNvSpPr txBox="1"/>
          <p:nvPr/>
        </p:nvSpPr>
        <p:spPr>
          <a:xfrm>
            <a:off x="822960" y="2194560"/>
            <a:ext cx="2966618" cy="1463040"/>
          </a:xfrm>
          <a:prstGeom prst="rect">
            <a:avLst/>
          </a:prstGeom>
          <a:noFill/>
          <a:ln/>
        </p:spPr>
        <p:txBody>
          <a:bodyPr wrap="square" lIns="0" tIns="0" rIns="0" bIns="0" rtlCol="0" anchor="t"/>
          <a:lstStyle/>
          <a:p>
            <a:pPr marL="0" indent="0">
              <a:spcAft>
                <a:spcPts val="400"/>
              </a:spcAft>
              <a:buNone/>
            </a:pPr>
            <a:r>
              <a:rPr lang="en-US" sz="1300" b="1" dirty="0">
                <a:solidFill>
                  <a:schemeClr val="accent3"/>
                </a:solidFill>
              </a:rPr>
              <a:t>MONTH 1</a:t>
            </a:r>
            <a:endParaRPr lang="en-US" sz="1300" dirty="0"/>
          </a:p>
          <a:p>
            <a:pPr marL="0" indent="0">
              <a:spcAft>
                <a:spcPts val="400"/>
              </a:spcAft>
              <a:buNone/>
            </a:pPr>
            <a:r>
              <a:rPr lang="en-US" sz="2200" b="1" dirty="0">
                <a:solidFill>
                  <a:schemeClr val="tx1"/>
                </a:solidFill>
                <a:latin typeface="+mj-lt" pitchFamily="34" charset="0"/>
                <a:ea typeface="+mj-lt" pitchFamily="34" charset="-122"/>
                <a:cs typeface="+mj-lt" pitchFamily="34" charset="-120"/>
              </a:rPr>
              <a:t>Survey</a:t>
            </a:r>
            <a:endParaRPr lang="en-US" sz="1300" dirty="0"/>
          </a:p>
          <a:p>
            <a:pPr marL="0" indent="0">
              <a:spcAft>
                <a:spcPts val="400"/>
              </a:spcAft>
              <a:buNone/>
            </a:pPr>
            <a:r>
              <a:rPr lang="en-US" sz="1500" dirty="0">
                <a:solidFill>
                  <a:schemeClr val="tx2"/>
                </a:solidFill>
              </a:rPr>
              <a:t>Map paths and shade at 4 times; photo-scan gaps; count walkers at the station and mall.</a:t>
            </a:r>
            <a:endParaRPr lang="en-US" sz="1300" dirty="0"/>
          </a:p>
        </p:txBody>
      </p:sp>
      <p:sp>
        <p:nvSpPr>
          <p:cNvPr id="6" name="Phase arrow 1"/>
          <p:cNvSpPr/>
          <p:nvPr/>
        </p:nvSpPr>
        <p:spPr>
          <a:xfrm>
            <a:off x="4091330" y="2779776"/>
            <a:ext cx="219456" cy="237744"/>
          </a:xfrm>
          <a:prstGeom prst="rightArrow">
            <a:avLst/>
          </a:prstGeom>
          <a:solidFill>
            <a:schemeClr val="accent1"/>
          </a:solidFill>
          <a:ln/>
        </p:spPr>
        <p:txBody>
          <a:bodyPr/>
          <a:lstStyle/>
          <a:p>
            <a:endParaRPr lang="en-MY"/>
          </a:p>
        </p:txBody>
      </p:sp>
      <p:sp>
        <p:nvSpPr>
          <p:cNvPr id="7" name="Build card"/>
          <p:cNvSpPr/>
          <p:nvPr/>
        </p:nvSpPr>
        <p:spPr>
          <a:xfrm>
            <a:off x="4338218" y="2011680"/>
            <a:ext cx="3515258" cy="1783080"/>
          </a:xfrm>
          <a:prstGeom prst="roundRect">
            <a:avLst>
              <a:gd name="adj" fmla="val 6154"/>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8" name="Build text"/>
          <p:cNvSpPr txBox="1"/>
          <p:nvPr/>
        </p:nvSpPr>
        <p:spPr>
          <a:xfrm>
            <a:off x="4612538" y="2194560"/>
            <a:ext cx="2966618" cy="1463040"/>
          </a:xfrm>
          <a:prstGeom prst="rect">
            <a:avLst/>
          </a:prstGeom>
          <a:noFill/>
          <a:ln/>
        </p:spPr>
        <p:txBody>
          <a:bodyPr wrap="square" lIns="0" tIns="0" rIns="0" bIns="0" rtlCol="0" anchor="t"/>
          <a:lstStyle/>
          <a:p>
            <a:pPr marL="0" indent="0">
              <a:spcAft>
                <a:spcPts val="400"/>
              </a:spcAft>
              <a:buNone/>
            </a:pPr>
            <a:r>
              <a:rPr lang="en-US" sz="1300" b="1" dirty="0">
                <a:solidFill>
                  <a:schemeClr val="accent3"/>
                </a:solidFill>
              </a:rPr>
              <a:t>MONTHS 2–3</a:t>
            </a:r>
            <a:endParaRPr lang="en-US" sz="1300" dirty="0"/>
          </a:p>
          <a:p>
            <a:pPr marL="0" indent="0">
              <a:spcAft>
                <a:spcPts val="400"/>
              </a:spcAft>
              <a:buNone/>
            </a:pPr>
            <a:r>
              <a:rPr lang="en-US" sz="2200" b="1" dirty="0">
                <a:solidFill>
                  <a:schemeClr val="tx1"/>
                </a:solidFill>
                <a:latin typeface="+mj-lt" pitchFamily="34" charset="0"/>
                <a:ea typeface="+mj-lt" pitchFamily="34" charset="-122"/>
                <a:cs typeface="+mj-lt" pitchFamily="34" charset="-120"/>
              </a:rPr>
              <a:t>Build</a:t>
            </a:r>
            <a:endParaRPr lang="en-US" sz="1300" dirty="0"/>
          </a:p>
          <a:p>
            <a:pPr marL="0" indent="0">
              <a:spcAft>
                <a:spcPts val="400"/>
              </a:spcAft>
              <a:buNone/>
            </a:pPr>
            <a:r>
              <a:rPr lang="en-US" sz="1500" dirty="0">
                <a:solidFill>
                  <a:schemeClr val="tx2"/>
                </a:solidFill>
              </a:rPr>
              <a:t>One walkway and a few tree rows from the plan, with real contractor quotes.</a:t>
            </a:r>
            <a:endParaRPr lang="en-US" sz="1300" dirty="0"/>
          </a:p>
        </p:txBody>
      </p:sp>
      <p:sp>
        <p:nvSpPr>
          <p:cNvPr id="9" name="Phase arrow 2"/>
          <p:cNvSpPr/>
          <p:nvPr/>
        </p:nvSpPr>
        <p:spPr>
          <a:xfrm>
            <a:off x="7880909" y="2779776"/>
            <a:ext cx="219456" cy="237744"/>
          </a:xfrm>
          <a:prstGeom prst="rightArrow">
            <a:avLst/>
          </a:prstGeom>
          <a:solidFill>
            <a:schemeClr val="accent1"/>
          </a:solidFill>
          <a:ln/>
        </p:spPr>
        <p:txBody>
          <a:bodyPr/>
          <a:lstStyle/>
          <a:p>
            <a:endParaRPr lang="en-MY"/>
          </a:p>
        </p:txBody>
      </p:sp>
      <p:sp>
        <p:nvSpPr>
          <p:cNvPr id="10" name="Measure card"/>
          <p:cNvSpPr/>
          <p:nvPr/>
        </p:nvSpPr>
        <p:spPr>
          <a:xfrm>
            <a:off x="8127797" y="2011680"/>
            <a:ext cx="3515258" cy="1783080"/>
          </a:xfrm>
          <a:prstGeom prst="roundRect">
            <a:avLst>
              <a:gd name="adj" fmla="val 6154"/>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11" name="Measure text"/>
          <p:cNvSpPr txBox="1"/>
          <p:nvPr/>
        </p:nvSpPr>
        <p:spPr>
          <a:xfrm>
            <a:off x="8402117" y="2194560"/>
            <a:ext cx="2966618" cy="1463040"/>
          </a:xfrm>
          <a:prstGeom prst="rect">
            <a:avLst/>
          </a:prstGeom>
          <a:noFill/>
          <a:ln/>
        </p:spPr>
        <p:txBody>
          <a:bodyPr wrap="square" lIns="0" tIns="0" rIns="0" bIns="0" rtlCol="0" anchor="t"/>
          <a:lstStyle/>
          <a:p>
            <a:pPr marL="0" indent="0">
              <a:spcAft>
                <a:spcPts val="400"/>
              </a:spcAft>
              <a:buNone/>
            </a:pPr>
            <a:r>
              <a:rPr lang="en-US" sz="1300" b="1" dirty="0">
                <a:solidFill>
                  <a:schemeClr val="accent3"/>
                </a:solidFill>
              </a:rPr>
              <a:t>MONTHS 4–6</a:t>
            </a:r>
            <a:endParaRPr lang="en-US" sz="1300" dirty="0"/>
          </a:p>
          <a:p>
            <a:pPr marL="0" indent="0">
              <a:spcAft>
                <a:spcPts val="400"/>
              </a:spcAft>
              <a:buNone/>
            </a:pPr>
            <a:r>
              <a:rPr lang="en-US" sz="2200" b="1" dirty="0">
                <a:solidFill>
                  <a:schemeClr val="tx1"/>
                </a:solidFill>
                <a:latin typeface="+mj-lt" pitchFamily="34" charset="0"/>
                <a:ea typeface="+mj-lt" pitchFamily="34" charset="-122"/>
                <a:cs typeface="+mj-lt" pitchFamily="34" charset="-120"/>
              </a:rPr>
              <a:t>Measure</a:t>
            </a:r>
            <a:endParaRPr lang="en-US" sz="1300" dirty="0"/>
          </a:p>
          <a:p>
            <a:pPr marL="0" indent="0">
              <a:spcAft>
                <a:spcPts val="400"/>
              </a:spcAft>
              <a:buNone/>
            </a:pPr>
            <a:r>
              <a:rPr lang="en-US" sz="1500" dirty="0">
                <a:solidFill>
                  <a:schemeClr val="tx2"/>
                </a:solidFill>
              </a:rPr>
              <a:t>Predicted vs observed shade, walker counts before and after, resident feedback.</a:t>
            </a:r>
            <a:endParaRPr lang="en-US" sz="1300" dirty="0"/>
          </a:p>
        </p:txBody>
      </p:sp>
      <p:sp>
        <p:nvSpPr>
          <p:cNvPr id="12" name="Strategy card"/>
          <p:cNvSpPr/>
          <p:nvPr/>
        </p:nvSpPr>
        <p:spPr>
          <a:xfrm>
            <a:off x="548640" y="4069080"/>
            <a:ext cx="6434761" cy="1325880"/>
          </a:xfrm>
          <a:prstGeom prst="roundRect">
            <a:avLst>
              <a:gd name="adj" fmla="val 8276"/>
            </a:avLst>
          </a:prstGeom>
          <a:solidFill>
            <a:schemeClr val="tx1"/>
          </a:solidFill>
          <a:ln/>
          <a:effectLst>
            <a:outerShdw blurRad="127000" dist="38100" dir="5400000" algn="bl" rotWithShape="0">
              <a:srgbClr val="173D2E">
                <a:alpha val="14000"/>
              </a:srgbClr>
            </a:outerShdw>
          </a:effectLst>
        </p:spPr>
        <p:txBody>
          <a:bodyPr/>
          <a:lstStyle/>
          <a:p>
            <a:endParaRPr lang="en-MY"/>
          </a:p>
        </p:txBody>
      </p:sp>
      <p:sp>
        <p:nvSpPr>
          <p:cNvPr id="13" name="Strategy"/>
          <p:cNvSpPr txBox="1"/>
          <p:nvPr/>
        </p:nvSpPr>
        <p:spPr>
          <a:xfrm>
            <a:off x="822960" y="4251960"/>
            <a:ext cx="5886121" cy="1005840"/>
          </a:xfrm>
          <a:prstGeom prst="rect">
            <a:avLst/>
          </a:prstGeom>
          <a:noFill/>
          <a:ln/>
        </p:spPr>
        <p:txBody>
          <a:bodyPr wrap="square" lIns="0" tIns="0" rIns="0" bIns="0" rtlCol="0" anchor="t"/>
          <a:lstStyle/>
          <a:p>
            <a:pPr marL="0" indent="0">
              <a:spcAft>
                <a:spcPts val="400"/>
              </a:spcAft>
              <a:buNone/>
            </a:pPr>
            <a:r>
              <a:rPr lang="en-US" sz="1300" b="1" dirty="0">
                <a:solidFill>
                  <a:schemeClr val="accent1"/>
                </a:solidFill>
              </a:rPr>
              <a:t>FITS SDP’S 2025–2030 STRATEGY</a:t>
            </a:r>
            <a:endParaRPr lang="en-US" sz="1300" dirty="0"/>
          </a:p>
          <a:p>
            <a:pPr marL="0" indent="0">
              <a:spcAft>
                <a:spcPts val="400"/>
              </a:spcAft>
              <a:buNone/>
            </a:pPr>
            <a:r>
              <a:rPr lang="en-US" sz="1600" dirty="0">
                <a:solidFill>
                  <a:schemeClr val="bg2"/>
                </a:solidFill>
              </a:rPr>
              <a:t>Climate resilience and urban biodiversity pillars: puts SDP’s tree planting where people walk, and shows the result.</a:t>
            </a:r>
            <a:endParaRPr lang="en-US" sz="1300" dirty="0"/>
          </a:p>
        </p:txBody>
      </p:sp>
      <p:sp>
        <p:nvSpPr>
          <p:cNvPr id="14" name="Ask card"/>
          <p:cNvSpPr/>
          <p:nvPr/>
        </p:nvSpPr>
        <p:spPr>
          <a:xfrm>
            <a:off x="7257721" y="4069080"/>
            <a:ext cx="4385334" cy="1325880"/>
          </a:xfrm>
          <a:prstGeom prst="roundRect">
            <a:avLst>
              <a:gd name="adj" fmla="val 8276"/>
            </a:avLst>
          </a:prstGeom>
          <a:solidFill>
            <a:schemeClr val="accent1"/>
          </a:solidFill>
          <a:ln/>
          <a:effectLst>
            <a:outerShdw blurRad="127000" dist="38100" dir="5400000" algn="bl" rotWithShape="0">
              <a:srgbClr val="173D2E">
                <a:alpha val="14000"/>
              </a:srgbClr>
            </a:outerShdw>
          </a:effectLst>
        </p:spPr>
        <p:txBody>
          <a:bodyPr/>
          <a:lstStyle/>
          <a:p>
            <a:endParaRPr lang="en-MY"/>
          </a:p>
        </p:txBody>
      </p:sp>
      <p:sp>
        <p:nvSpPr>
          <p:cNvPr id="15" name="Ask"/>
          <p:cNvSpPr txBox="1"/>
          <p:nvPr/>
        </p:nvSpPr>
        <p:spPr>
          <a:xfrm>
            <a:off x="7532041" y="4251960"/>
            <a:ext cx="3836694" cy="1005840"/>
          </a:xfrm>
          <a:prstGeom prst="rect">
            <a:avLst/>
          </a:prstGeom>
          <a:noFill/>
          <a:ln/>
        </p:spPr>
        <p:txBody>
          <a:bodyPr wrap="square" lIns="0" tIns="0" rIns="0" bIns="0" rtlCol="0" anchor="t"/>
          <a:lstStyle/>
          <a:p>
            <a:pPr marL="0" indent="0">
              <a:spcAft>
                <a:spcPts val="400"/>
              </a:spcAft>
              <a:buNone/>
            </a:pPr>
            <a:r>
              <a:rPr lang="en-US" sz="1300" b="1" dirty="0">
                <a:solidFill>
                  <a:schemeClr val="tx1"/>
                </a:solidFill>
              </a:rPr>
              <a:t>OUR ASK</a:t>
            </a:r>
            <a:endParaRPr lang="en-US" sz="1300" dirty="0"/>
          </a:p>
          <a:p>
            <a:pPr marL="0" indent="0">
              <a:spcAft>
                <a:spcPts val="400"/>
              </a:spcAft>
              <a:buNone/>
            </a:pPr>
            <a:r>
              <a:rPr lang="en-US" sz="1600" dirty="0">
                <a:solidFill>
                  <a:schemeClr val="tx1"/>
                </a:solidFill>
              </a:rPr>
              <a:t>One township, a landscape contact and a small budget line to build and measure.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1828800"/>
            <a:ext cx="11094415" cy="411480"/>
          </a:xfrm>
          <a:prstGeom prst="rect">
            <a:avLst/>
          </a:prstGeom>
          <a:noFill/>
          <a:ln/>
        </p:spPr>
        <p:txBody>
          <a:bodyPr wrap="square" lIns="0" tIns="0" rIns="0" bIns="0" rtlCol="0" anchor="ctr"/>
          <a:lstStyle/>
          <a:p>
            <a:pPr marL="0" indent="0">
              <a:buNone/>
            </a:pPr>
            <a:r>
              <a:rPr lang="en-US" sz="1600" b="1" kern="0" spc="400" dirty="0">
                <a:solidFill>
                  <a:schemeClr val="accent1"/>
                </a:solidFill>
              </a:rPr>
              <a:t>APPENDIX</a:t>
            </a:r>
            <a:endParaRPr lang="en-US" sz="1600" dirty="0"/>
          </a:p>
        </p:txBody>
      </p:sp>
      <p:sp>
        <p:nvSpPr>
          <p:cNvPr id="3" name="Divider title"/>
          <p:cNvSpPr txBox="1"/>
          <p:nvPr/>
        </p:nvSpPr>
        <p:spPr>
          <a:xfrm>
            <a:off x="548640" y="2331720"/>
            <a:ext cx="11094415" cy="1463040"/>
          </a:xfrm>
          <a:prstGeom prst="rect">
            <a:avLst/>
          </a:prstGeom>
          <a:noFill/>
          <a:ln/>
        </p:spPr>
        <p:txBody>
          <a:bodyPr wrap="square" lIns="0" tIns="0" rIns="0" bIns="0" rtlCol="0" anchor="ctr"/>
          <a:lstStyle/>
          <a:p>
            <a:pPr marL="0" indent="0">
              <a:buNone/>
            </a:pPr>
            <a:r>
              <a:rPr lang="en-US" sz="5400" b="1" dirty="0">
                <a:solidFill>
                  <a:schemeClr val="bg2"/>
                </a:solidFill>
                <a:latin typeface="+mj-lt" pitchFamily="34" charset="0"/>
                <a:ea typeface="+mj-lt" pitchFamily="34" charset="-122"/>
                <a:cs typeface="+mj-lt" pitchFamily="34" charset="-120"/>
              </a:rPr>
              <a:t>Timing, limits, screens and sources</a:t>
            </a:r>
            <a:endParaRPr lang="en-US" sz="5400" dirty="0"/>
          </a:p>
        </p:txBody>
      </p:sp>
      <p:sp>
        <p:nvSpPr>
          <p:cNvPr id="4" name="Divider text"/>
          <p:cNvSpPr txBox="1"/>
          <p:nvPr/>
        </p:nvSpPr>
        <p:spPr>
          <a:xfrm>
            <a:off x="548640" y="3931920"/>
            <a:ext cx="8229600" cy="914400"/>
          </a:xfrm>
          <a:prstGeom prst="rect">
            <a:avLst/>
          </a:prstGeom>
          <a:noFill/>
          <a:ln/>
        </p:spPr>
        <p:txBody>
          <a:bodyPr wrap="square" lIns="0" tIns="0" rIns="0" bIns="0" rtlCol="0" anchor="ctr"/>
          <a:lstStyle/>
          <a:p>
            <a:pPr marL="0" indent="0">
              <a:buNone/>
            </a:pPr>
            <a:r>
              <a:rPr lang="en-US" sz="1800" dirty="0">
                <a:solidFill>
                  <a:schemeClr val="accent4"/>
                </a:solidFill>
              </a:rPr>
              <a:t>The run order for the 5-minute pitch, what the model does not know yet, the other demo screens, and where every number comes from.</a:t>
            </a:r>
            <a:endParaRPr lang="en-US" sz="1800" dirty="0"/>
          </a:p>
        </p:txBody>
      </p:sp>
      <p:sp>
        <p:nvSpPr>
          <p:cNvPr id="6"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endParaRPr lang="en-US" sz="1200" dirty="0"/>
          </a:p>
        </p:txBody>
      </p:sp>
      <p:sp>
        <p:nvSpPr>
          <p:cNvPr id="7"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RUN ORDER</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Five minutes, two presenters</a:t>
            </a:r>
            <a:endParaRPr lang="en-US" sz="3400" dirty="0"/>
          </a:p>
        </p:txBody>
      </p:sp>
      <p:graphicFrame>
        <p:nvGraphicFramePr>
          <p:cNvPr id="13" name="Run order"/>
          <p:cNvGraphicFramePr>
            <a:graphicFrameLocks noGrp="1"/>
          </p:cNvGraphicFramePr>
          <p:nvPr>
            <p:extLst>
              <p:ext uri="{D42A27DB-BD31-4B8C-83A1-F6EECF244321}">
                <p14:modId xmlns:p14="http://schemas.microsoft.com/office/powerpoint/2010/main" val="1579011935"/>
              </p:ext>
            </p:extLst>
          </p:nvPr>
        </p:nvGraphicFramePr>
        <p:xfrm>
          <a:off x="548640" y="1965960"/>
          <a:ext cx="7680960" cy="3352800"/>
        </p:xfrm>
        <a:graphic>
          <a:graphicData uri="http://schemas.openxmlformats.org/drawingml/2006/table">
            <a:tbl>
              <a:tblPr/>
              <a:tblGrid>
                <a:gridCol w="14630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F7F3E8"/>
                          </a:solidFill>
                        </a:rPr>
                        <a:t>Time</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tc>
                  <a:txBody>
                    <a:bodyPr/>
                    <a:lstStyle/>
                    <a:p>
                      <a:pPr marL="0" indent="0">
                        <a:buNone/>
                      </a:pPr>
                      <a:r>
                        <a:rPr lang="en-US" sz="1400" b="1" dirty="0">
                          <a:solidFill>
                            <a:srgbClr val="F7F3E8"/>
                          </a:solidFill>
                        </a:rPr>
                        <a:t>On screen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tc>
                  <a:txBody>
                    <a:bodyPr/>
                    <a:lstStyle/>
                    <a:p>
                      <a:pPr marL="0" indent="0">
                        <a:buNone/>
                      </a:pPr>
                      <a:r>
                        <a:rPr lang="en-US" sz="1400" b="1" dirty="0">
                          <a:solidFill>
                            <a:srgbClr val="F7F3E8"/>
                          </a:solidFill>
                        </a:rPr>
                        <a:t>Who speaks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tc>
                  <a:txBody>
                    <a:bodyPr/>
                    <a:lstStyle/>
                    <a:p>
                      <a:pPr marL="0" indent="0">
                        <a:buNone/>
                      </a:pPr>
                      <a:r>
                        <a:rPr lang="en-US" sz="1400" b="1" dirty="0">
                          <a:solidFill>
                            <a:srgbClr val="F7F3E8"/>
                          </a:solidFill>
                        </a:rPr>
                        <a:t>Length</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173D2E"/>
                    </a:solidFill>
                  </a:tcPr>
                </a:tc>
                <a:extLst>
                  <a:ext uri="{0D108BD9-81ED-4DB2-BD59-A6C34878D82A}">
                    <a16:rowId xmlns:a16="http://schemas.microsoft.com/office/drawing/2014/main" val="10000"/>
                  </a:ext>
                </a:extLst>
              </a:tr>
              <a:tr h="0">
                <a:tc>
                  <a:txBody>
                    <a:bodyPr/>
                    <a:lstStyle/>
                    <a:p>
                      <a:pPr marL="0" indent="0">
                        <a:buNone/>
                      </a:pPr>
                      <a:r>
                        <a:rPr lang="en-US" sz="1400" b="1" dirty="0">
                          <a:solidFill>
                            <a:srgbClr val="96590A"/>
                          </a:solidFill>
                        </a:rPr>
                        <a:t>0:00–0:15</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Cover</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15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400" b="1" dirty="0">
                          <a:solidFill>
                            <a:srgbClr val="96590A"/>
                          </a:solidFill>
                        </a:rPr>
                        <a:t>0:15–0:50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Problem</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35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400" b="1" dirty="0">
                          <a:solidFill>
                            <a:srgbClr val="96590A"/>
                          </a:solidFill>
                        </a:rPr>
                        <a:t>0:50–1:10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Target user</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20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400" b="1" dirty="0">
                          <a:solidFill>
                            <a:srgbClr val="96590A"/>
                          </a:solidFill>
                        </a:rPr>
                        <a:t>1:10–1:30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Solution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Steven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D8E8F2"/>
                    </a:solidFill>
                  </a:tcPr>
                </a:tc>
                <a:tc>
                  <a:txBody>
                    <a:bodyPr/>
                    <a:lstStyle/>
                    <a:p>
                      <a:pPr marL="0" indent="0">
                        <a:buNone/>
                      </a:pPr>
                      <a:r>
                        <a:rPr lang="en-US" sz="1400" dirty="0">
                          <a:solidFill>
                            <a:srgbClr val="173D2E"/>
                          </a:solidFill>
                        </a:rPr>
                        <a:t>20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400" b="1" dirty="0">
                          <a:solidFill>
                            <a:srgbClr val="96590A"/>
                          </a:solidFill>
                        </a:rPr>
                        <a:t>1:30–3:45</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Live demo (in the app)</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Steven + 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D7EBDD"/>
                    </a:solidFill>
                  </a:tcPr>
                </a:tc>
                <a:tc>
                  <a:txBody>
                    <a:bodyPr/>
                    <a:lstStyle/>
                    <a:p>
                      <a:pPr marL="0" indent="0">
                        <a:buNone/>
                      </a:pPr>
                      <a:r>
                        <a:rPr lang="en-US" sz="1400" dirty="0">
                          <a:solidFill>
                            <a:srgbClr val="173D2E"/>
                          </a:solidFill>
                        </a:rPr>
                        <a:t>135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400" b="1" dirty="0">
                          <a:solidFill>
                            <a:srgbClr val="96590A"/>
                          </a:solidFill>
                        </a:rPr>
                        <a:t>3:45–4:05</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How it works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Steven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D8E8F2"/>
                    </a:solidFill>
                  </a:tcPr>
                </a:tc>
                <a:tc>
                  <a:txBody>
                    <a:bodyPr/>
                    <a:lstStyle/>
                    <a:p>
                      <a:pPr marL="0" indent="0">
                        <a:buNone/>
                      </a:pPr>
                      <a:r>
                        <a:rPr lang="en-US" sz="1400" dirty="0">
                          <a:solidFill>
                            <a:srgbClr val="173D2E"/>
                          </a:solidFill>
                        </a:rPr>
                        <a:t>20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400" b="1" dirty="0">
                          <a:solidFill>
                            <a:srgbClr val="96590A"/>
                          </a:solidFill>
                        </a:rPr>
                        <a:t>4:05–4:20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Impact</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15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7"/>
                  </a:ext>
                </a:extLst>
              </a:tr>
              <a:tr h="0">
                <a:tc>
                  <a:txBody>
                    <a:bodyPr/>
                    <a:lstStyle/>
                    <a:p>
                      <a:pPr marL="0" indent="0">
                        <a:buNone/>
                      </a:pPr>
                      <a:r>
                        <a:rPr lang="en-US" sz="1400" b="1" dirty="0">
                          <a:solidFill>
                            <a:srgbClr val="96590A"/>
                          </a:solidFill>
                        </a:rPr>
                        <a:t>4:20–4:30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Innovation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10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8"/>
                  </a:ext>
                </a:extLst>
              </a:tr>
              <a:tr h="0">
                <a:tc>
                  <a:txBody>
                    <a:bodyPr/>
                    <a:lstStyle/>
                    <a:p>
                      <a:pPr marL="0" indent="0">
                        <a:buNone/>
                      </a:pPr>
                      <a:r>
                        <a:rPr lang="en-US" sz="1400" b="1" dirty="0">
                          <a:solidFill>
                            <a:srgbClr val="96590A"/>
                          </a:solidFill>
                        </a:rPr>
                        <a:t>4:30–4:45</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Feasibility</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Steven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D8E8F2"/>
                    </a:solidFill>
                  </a:tcPr>
                </a:tc>
                <a:tc>
                  <a:txBody>
                    <a:bodyPr/>
                    <a:lstStyle/>
                    <a:p>
                      <a:pPr marL="0" indent="0">
                        <a:buNone/>
                      </a:pPr>
                      <a:r>
                        <a:rPr lang="en-US" sz="1400" dirty="0">
                          <a:solidFill>
                            <a:srgbClr val="173D2E"/>
                          </a:solidFill>
                        </a:rPr>
                        <a:t>15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09"/>
                  </a:ext>
                </a:extLst>
              </a:tr>
              <a:tr h="0">
                <a:tc>
                  <a:txBody>
                    <a:bodyPr/>
                    <a:lstStyle/>
                    <a:p>
                      <a:pPr marL="0" indent="0">
                        <a:buNone/>
                      </a:pPr>
                      <a:r>
                        <a:rPr lang="en-US" sz="1400" b="1" dirty="0">
                          <a:solidFill>
                            <a:srgbClr val="96590A"/>
                          </a:solidFill>
                        </a:rPr>
                        <a:t>4:45–5:00</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Implementation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tc>
                  <a:txBody>
                    <a:bodyPr/>
                    <a:lstStyle/>
                    <a:p>
                      <a:pPr marL="0" indent="0">
                        <a:buNone/>
                      </a:pPr>
                      <a:r>
                        <a:rPr lang="en-US" sz="1400" dirty="0">
                          <a:solidFill>
                            <a:srgbClr val="173D2E"/>
                          </a:solidFill>
                        </a:rPr>
                        <a:t>Thien Gen</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solidFill>
                      <a:srgbClr val="F6E3C5"/>
                    </a:solidFill>
                  </a:tcPr>
                </a:tc>
                <a:tc>
                  <a:txBody>
                    <a:bodyPr/>
                    <a:lstStyle/>
                    <a:p>
                      <a:pPr marL="0" indent="0">
                        <a:buNone/>
                      </a:pPr>
                      <a:r>
                        <a:rPr lang="en-US" sz="1400" dirty="0">
                          <a:solidFill>
                            <a:srgbClr val="173D2E"/>
                          </a:solidFill>
                        </a:rPr>
                        <a:t>15 s</a:t>
                      </a:r>
                      <a:endParaRPr lang="en-US" sz="1400" dirty="0"/>
                    </a:p>
                  </a:txBody>
                  <a:tcPr marL="109728" marR="109728">
                    <a:lnL w="9525" cap="flat" cmpd="sng" algn="ctr">
                      <a:solidFill>
                        <a:srgbClr val="D9CFB6"/>
                      </a:solidFill>
                      <a:prstDash val="solid"/>
                      <a:round/>
                      <a:headEnd type="none" w="med" len="med"/>
                      <a:tailEnd type="none" w="med" len="med"/>
                    </a:lnL>
                    <a:lnR w="9525" cap="flat" cmpd="sng" algn="ctr">
                      <a:solidFill>
                        <a:srgbClr val="D9CFB6"/>
                      </a:solidFill>
                      <a:prstDash val="solid"/>
                      <a:round/>
                      <a:headEnd type="none" w="med" len="med"/>
                      <a:tailEnd type="none" w="med" len="med"/>
                    </a:lnR>
                    <a:lnT w="9525" cap="flat" cmpd="sng" algn="ctr">
                      <a:solidFill>
                        <a:srgbClr val="D9CFB6"/>
                      </a:solidFill>
                      <a:prstDash val="solid"/>
                      <a:round/>
                      <a:headEnd type="none" w="med" len="med"/>
                      <a:tailEnd type="none" w="med" len="med"/>
                    </a:lnT>
                    <a:lnB w="9525" cap="flat" cmpd="sng" algn="ctr">
                      <a:solidFill>
                        <a:srgbClr val="D9CFB6"/>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Where the script is"/>
          <p:cNvSpPr txBox="1"/>
          <p:nvPr/>
        </p:nvSpPr>
        <p:spPr>
          <a:xfrm>
            <a:off x="8549640" y="1965960"/>
            <a:ext cx="3093415" cy="3931920"/>
          </a:xfrm>
          <a:prstGeom prst="rect">
            <a:avLst/>
          </a:prstGeom>
          <a:noFill/>
          <a:ln/>
        </p:spPr>
        <p:txBody>
          <a:bodyPr wrap="square" lIns="0" tIns="0" rIns="0" bIns="0" rtlCol="0" anchor="t"/>
          <a:lstStyle/>
          <a:p>
            <a:pPr marL="0" indent="0">
              <a:buNone/>
            </a:pPr>
            <a:r>
              <a:rPr lang="en-US" sz="1800" b="1" dirty="0">
                <a:solidFill>
                  <a:schemeClr val="tx2"/>
                </a:solidFill>
                <a:latin typeface="+mj-lt" pitchFamily="34" charset="0"/>
                <a:ea typeface="+mj-lt" pitchFamily="34" charset="-122"/>
                <a:cs typeface="+mj-lt" pitchFamily="34" charset="-120"/>
              </a:rPr>
              <a:t>The full words</a:t>
            </a:r>
            <a:endParaRPr lang="en-US" sz="1500" dirty="0"/>
          </a:p>
          <a:p>
            <a:pPr marL="0" indent="0">
              <a:buNone/>
            </a:pPr>
            <a:r>
              <a:rPr lang="en-US" sz="1500" dirty="0">
                <a:solidFill>
                  <a:schemeClr val="tx2"/>
                </a:solidFill>
              </a:rPr>
              <a:t>Each slide’s speaker notes hold its time window, who speaks, what to say and what to click. The Live demo slide’s notes hold every demo step from 1:30 to 3:45.</a:t>
            </a:r>
            <a:endParaRPr lang="en-US" sz="1500" dirty="0"/>
          </a:p>
          <a:p>
            <a:pPr marL="0" indent="0">
              <a:buNone/>
            </a:pPr>
            <a:r>
              <a:rPr lang="en-US" sz="1500" dirty="0">
                <a:solidFill>
                  <a:schemeClr val="tx2"/>
                </a:solidFill>
              </a:rPr>
              <a:t> </a:t>
            </a:r>
            <a:endParaRPr lang="en-US" sz="1500" dirty="0"/>
          </a:p>
          <a:p>
            <a:pPr marL="0" indent="0">
              <a:buNone/>
            </a:pPr>
            <a:r>
              <a:rPr lang="en-US" sz="1500" dirty="0">
                <a:solidFill>
                  <a:schemeClr val="tx2"/>
                </a:solidFill>
              </a:rPr>
              <a:t>The Word script (TEDUH-demo-script.docx) adds setup, start-up, cue cards, the 10-minute version, recovery steps and Q&amp;A.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HONEST LIMITS</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What we model, and what we do not claim</a:t>
            </a:r>
            <a:endParaRPr lang="en-US" sz="3400" dirty="0"/>
          </a:p>
        </p:txBody>
      </p:sp>
      <p:sp>
        <p:nvSpPr>
          <p:cNvPr id="4" name="Shade is modelled card"/>
          <p:cNvSpPr/>
          <p:nvPr/>
        </p:nvSpPr>
        <p:spPr>
          <a:xfrm>
            <a:off x="548640" y="2103120"/>
            <a:ext cx="5410048" cy="1508760"/>
          </a:xfrm>
          <a:prstGeom prst="roundRect">
            <a:avLst>
              <a:gd name="adj" fmla="val 7273"/>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5" name="Shade is modelled marker"/>
          <p:cNvSpPr/>
          <p:nvPr/>
        </p:nvSpPr>
        <p:spPr>
          <a:xfrm>
            <a:off x="822960" y="2432304"/>
            <a:ext cx="237744" cy="237744"/>
          </a:xfrm>
          <a:prstGeom prst="ellipse">
            <a:avLst/>
          </a:prstGeom>
          <a:solidFill>
            <a:schemeClr val="accent1"/>
          </a:solidFill>
          <a:ln/>
        </p:spPr>
        <p:txBody>
          <a:bodyPr/>
          <a:lstStyle/>
          <a:p>
            <a:endParaRPr lang="en-MY"/>
          </a:p>
        </p:txBody>
      </p:sp>
      <p:sp>
        <p:nvSpPr>
          <p:cNvPr id="6" name="Shade is modelled"/>
          <p:cNvSpPr txBox="1"/>
          <p:nvPr/>
        </p:nvSpPr>
        <p:spPr>
          <a:xfrm>
            <a:off x="1234440" y="2331720"/>
            <a:ext cx="4449928" cy="118872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latin typeface="+mj-lt" pitchFamily="34" charset="0"/>
                <a:ea typeface="+mj-lt" pitchFamily="34" charset="-122"/>
                <a:cs typeface="+mj-lt" pitchFamily="34" charset="-120"/>
              </a:rPr>
              <a:t>Shade is modelled</a:t>
            </a:r>
            <a:endParaRPr lang="en-US" sz="2000" dirty="0"/>
          </a:p>
          <a:p>
            <a:pPr marL="0" indent="0">
              <a:spcAft>
                <a:spcPts val="400"/>
              </a:spcAft>
              <a:buNone/>
            </a:pPr>
            <a:r>
              <a:rPr lang="en-US" sz="1500" dirty="0">
                <a:solidFill>
                  <a:schemeClr val="tx2"/>
                </a:solidFill>
              </a:rPr>
              <a:t>From mapped buildings and the real sun. OpenStreetMap has few trees here, so midday shade is understated until a survey adds them.</a:t>
            </a:r>
            <a:endParaRPr lang="en-US" sz="2000" dirty="0"/>
          </a:p>
        </p:txBody>
      </p:sp>
      <p:sp>
        <p:nvSpPr>
          <p:cNvPr id="7" name="Walks are part real card"/>
          <p:cNvSpPr/>
          <p:nvPr/>
        </p:nvSpPr>
        <p:spPr>
          <a:xfrm>
            <a:off x="6233008" y="2103120"/>
            <a:ext cx="5410048" cy="1508760"/>
          </a:xfrm>
          <a:prstGeom prst="roundRect">
            <a:avLst>
              <a:gd name="adj" fmla="val 7273"/>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8" name="Walks are part real marker"/>
          <p:cNvSpPr/>
          <p:nvPr/>
        </p:nvSpPr>
        <p:spPr>
          <a:xfrm>
            <a:off x="6507328" y="2432304"/>
            <a:ext cx="237744" cy="237744"/>
          </a:xfrm>
          <a:prstGeom prst="ellipse">
            <a:avLst/>
          </a:prstGeom>
          <a:solidFill>
            <a:schemeClr val="accent1"/>
          </a:solidFill>
          <a:ln/>
        </p:spPr>
        <p:txBody>
          <a:bodyPr/>
          <a:lstStyle/>
          <a:p>
            <a:endParaRPr lang="en-MY"/>
          </a:p>
        </p:txBody>
      </p:sp>
      <p:sp>
        <p:nvSpPr>
          <p:cNvPr id="9" name="Walks are part real"/>
          <p:cNvSpPr txBox="1"/>
          <p:nvPr/>
        </p:nvSpPr>
        <p:spPr>
          <a:xfrm>
            <a:off x="6918808" y="2331720"/>
            <a:ext cx="4449928" cy="118872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latin typeface="+mj-lt" pitchFamily="34" charset="0"/>
                <a:ea typeface="+mj-lt" pitchFamily="34" charset="-122"/>
                <a:cs typeface="+mj-lt" pitchFamily="34" charset="-120"/>
              </a:rPr>
              <a:t>Walks are part real</a:t>
            </a:r>
            <a:endParaRPr lang="en-US" sz="2000" dirty="0"/>
          </a:p>
          <a:p>
            <a:pPr marL="0" indent="0">
              <a:spcAft>
                <a:spcPts val="400"/>
              </a:spcAft>
              <a:buNone/>
            </a:pPr>
            <a:r>
              <a:rPr lang="en-US" sz="1500" dirty="0">
                <a:solidFill>
                  <a:schemeClr val="tx2"/>
                </a:solidFill>
              </a:rPr>
              <a:t>Station exits are real ticket-gate counts. How they split between places, and bus stop trips, are estimates.</a:t>
            </a:r>
            <a:endParaRPr lang="en-US" sz="2000" dirty="0"/>
          </a:p>
        </p:txBody>
      </p:sp>
      <p:sp>
        <p:nvSpPr>
          <p:cNvPr id="10" name="Shade is not comfort card"/>
          <p:cNvSpPr/>
          <p:nvPr/>
        </p:nvSpPr>
        <p:spPr>
          <a:xfrm>
            <a:off x="548640" y="3886200"/>
            <a:ext cx="5410048" cy="1508760"/>
          </a:xfrm>
          <a:prstGeom prst="roundRect">
            <a:avLst>
              <a:gd name="adj" fmla="val 7273"/>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11" name="Shade is not comfort marker"/>
          <p:cNvSpPr/>
          <p:nvPr/>
        </p:nvSpPr>
        <p:spPr>
          <a:xfrm>
            <a:off x="822960" y="4215384"/>
            <a:ext cx="237744" cy="237744"/>
          </a:xfrm>
          <a:prstGeom prst="ellipse">
            <a:avLst/>
          </a:prstGeom>
          <a:solidFill>
            <a:schemeClr val="accent2"/>
          </a:solidFill>
          <a:ln/>
        </p:spPr>
        <p:txBody>
          <a:bodyPr/>
          <a:lstStyle/>
          <a:p>
            <a:endParaRPr lang="en-MY"/>
          </a:p>
        </p:txBody>
      </p:sp>
      <p:sp>
        <p:nvSpPr>
          <p:cNvPr id="12" name="Shade is not comfort"/>
          <p:cNvSpPr txBox="1"/>
          <p:nvPr/>
        </p:nvSpPr>
        <p:spPr>
          <a:xfrm>
            <a:off x="1234440" y="4114800"/>
            <a:ext cx="4449928" cy="118872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latin typeface="+mj-lt" pitchFamily="34" charset="0"/>
                <a:ea typeface="+mj-lt" pitchFamily="34" charset="-122"/>
                <a:cs typeface="+mj-lt" pitchFamily="34" charset="-120"/>
              </a:rPr>
              <a:t>Shade is not comfort</a:t>
            </a:r>
            <a:endParaRPr lang="en-US" sz="2000" dirty="0"/>
          </a:p>
          <a:p>
            <a:pPr marL="0" indent="0">
              <a:spcAft>
                <a:spcPts val="400"/>
              </a:spcAft>
              <a:buNone/>
            </a:pPr>
            <a:r>
              <a:rPr lang="en-US" sz="1500" dirty="0">
                <a:solidFill>
                  <a:schemeClr val="tx2"/>
                </a:solidFill>
              </a:rPr>
              <a:t>We claim no temperature drop and never call a route safe or healthy.</a:t>
            </a:r>
            <a:endParaRPr lang="en-US" sz="2000" dirty="0"/>
          </a:p>
        </p:txBody>
      </p:sp>
      <p:sp>
        <p:nvSpPr>
          <p:cNvPr id="13" name="A person signs off card"/>
          <p:cNvSpPr/>
          <p:nvPr/>
        </p:nvSpPr>
        <p:spPr>
          <a:xfrm>
            <a:off x="6233008" y="3886200"/>
            <a:ext cx="5410048" cy="1508760"/>
          </a:xfrm>
          <a:prstGeom prst="roundRect">
            <a:avLst>
              <a:gd name="adj" fmla="val 7273"/>
            </a:avLst>
          </a:prstGeom>
          <a:solidFill>
            <a:schemeClr val="bg1"/>
          </a:solidFill>
          <a:ln/>
          <a:effectLst>
            <a:outerShdw blurRad="127000" dist="38100" dir="5400000" algn="bl" rotWithShape="0">
              <a:srgbClr val="173D2E">
                <a:alpha val="14000"/>
              </a:srgbClr>
            </a:outerShdw>
          </a:effectLst>
        </p:spPr>
        <p:txBody>
          <a:bodyPr/>
          <a:lstStyle/>
          <a:p>
            <a:endParaRPr lang="en-MY"/>
          </a:p>
        </p:txBody>
      </p:sp>
      <p:sp>
        <p:nvSpPr>
          <p:cNvPr id="14" name="A person signs off marker"/>
          <p:cNvSpPr/>
          <p:nvPr/>
        </p:nvSpPr>
        <p:spPr>
          <a:xfrm>
            <a:off x="6507328" y="4215384"/>
            <a:ext cx="237744" cy="237744"/>
          </a:xfrm>
          <a:prstGeom prst="ellipse">
            <a:avLst/>
          </a:prstGeom>
          <a:solidFill>
            <a:schemeClr val="accent2"/>
          </a:solidFill>
          <a:ln/>
        </p:spPr>
        <p:txBody>
          <a:bodyPr/>
          <a:lstStyle/>
          <a:p>
            <a:endParaRPr lang="en-MY"/>
          </a:p>
        </p:txBody>
      </p:sp>
      <p:sp>
        <p:nvSpPr>
          <p:cNvPr id="15" name="A person signs off"/>
          <p:cNvSpPr txBox="1"/>
          <p:nvPr/>
        </p:nvSpPr>
        <p:spPr>
          <a:xfrm>
            <a:off x="6918808" y="4114800"/>
            <a:ext cx="4449928" cy="118872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latin typeface="+mj-lt" pitchFamily="34" charset="0"/>
                <a:ea typeface="+mj-lt" pitchFamily="34" charset="-122"/>
                <a:cs typeface="+mj-lt" pitchFamily="34" charset="-120"/>
              </a:rPr>
              <a:t>A person signs off</a:t>
            </a:r>
            <a:endParaRPr lang="en-US" sz="2000" dirty="0"/>
          </a:p>
          <a:p>
            <a:pPr marL="0" indent="0">
              <a:spcAft>
                <a:spcPts val="400"/>
              </a:spcAft>
              <a:buNone/>
            </a:pPr>
            <a:r>
              <a:rPr lang="en-US" sz="1500" dirty="0">
                <a:solidFill>
                  <a:schemeClr val="tx2"/>
                </a:solidFill>
              </a:rPr>
              <a:t>AI estimates need a person to confirm. Costs are estimates, not quotes. Structures need an engineer.</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SCREEN · SPEC PACK</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From plan to contractor quote</a:t>
            </a:r>
            <a:endParaRPr lang="en-US" sz="3400" dirty="0"/>
          </a:p>
        </p:txBody>
      </p:sp>
      <p:pic>
        <p:nvPicPr>
          <p:cNvPr id="4" name="Screen · Spec pack screenshot" descr="Spec pack for a 92 m covered walkway: elevation drawing, dimensions and a priced bill of materials"/>
          <p:cNvPicPr>
            <a:picLocks noChangeAspect="1"/>
          </p:cNvPicPr>
          <p:nvPr/>
        </p:nvPicPr>
        <p:blipFill>
          <a:blip r:embed="rId3"/>
          <a:stretch>
            <a:fillRect/>
          </a:stretch>
        </p:blipFill>
        <p:spPr>
          <a:xfrm>
            <a:off x="548640" y="2011680"/>
            <a:ext cx="6766560" cy="4229100"/>
          </a:xfrm>
          <a:prstGeom prst="rect">
            <a:avLst/>
          </a:prstGeom>
        </p:spPr>
      </p:pic>
      <p:sp>
        <p:nvSpPr>
          <p:cNvPr id="5" name="Screen · Spec pack caption"/>
          <p:cNvSpPr txBox="1"/>
          <p:nvPr/>
        </p:nvSpPr>
        <p:spPr>
          <a:xfrm>
            <a:off x="7680960" y="2103120"/>
            <a:ext cx="3962095" cy="3291840"/>
          </a:xfrm>
          <a:prstGeom prst="rect">
            <a:avLst/>
          </a:prstGeom>
          <a:noFill/>
          <a:ln/>
        </p:spPr>
        <p:txBody>
          <a:bodyPr wrap="square" lIns="0" tIns="0" rIns="0" bIns="0" rtlCol="0" anchor="t"/>
          <a:lstStyle/>
          <a:p>
            <a:pPr marL="0" indent="0">
              <a:buNone/>
            </a:pPr>
            <a:r>
              <a:rPr lang="en-US" sz="1700" dirty="0">
                <a:solidFill>
                  <a:schemeClr val="tx2"/>
                </a:solidFill>
              </a:rPr>
              <a:t>Posts, footings, roof area, a priced bill of materials and an elevation drawing. Downloads as CSV or JSON. Indicative only: an engineer signs off.</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SCREEN · AI SCAN</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A photo fills the gap the map can’t</a:t>
            </a:r>
            <a:endParaRPr lang="en-US" sz="3400" dirty="0"/>
          </a:p>
        </p:txBody>
      </p:sp>
      <p:pic>
        <p:nvPicPr>
          <p:cNvPr id="4" name="Screen · AI scan screenshot" descr="AI shade scan: a path photo, the local model’s 50% estimate, a slider to adjust it, and the AI-confirmed badge"/>
          <p:cNvPicPr>
            <a:picLocks noChangeAspect="1"/>
          </p:cNvPicPr>
          <p:nvPr/>
        </p:nvPicPr>
        <p:blipFill>
          <a:blip r:embed="rId3"/>
          <a:stretch>
            <a:fillRect/>
          </a:stretch>
        </p:blipFill>
        <p:spPr>
          <a:xfrm>
            <a:off x="548640" y="2011680"/>
            <a:ext cx="6766560" cy="4229100"/>
          </a:xfrm>
          <a:prstGeom prst="rect">
            <a:avLst/>
          </a:prstGeom>
        </p:spPr>
      </p:pic>
      <p:sp>
        <p:nvSpPr>
          <p:cNvPr id="5" name="Screen · AI scan caption"/>
          <p:cNvSpPr txBox="1"/>
          <p:nvPr/>
        </p:nvSpPr>
        <p:spPr>
          <a:xfrm>
            <a:off x="7680960" y="2103120"/>
            <a:ext cx="3962095" cy="3291840"/>
          </a:xfrm>
          <a:prstGeom prst="rect">
            <a:avLst/>
          </a:prstGeom>
          <a:noFill/>
          <a:ln/>
        </p:spPr>
        <p:txBody>
          <a:bodyPr wrap="square" lIns="0" tIns="0" rIns="0" bIns="0" rtlCol="0" anchor="t"/>
          <a:lstStyle/>
          <a:p>
            <a:pPr marL="0" indent="0">
              <a:buNone/>
            </a:pPr>
            <a:r>
              <a:rPr lang="en-US" sz="1700" dirty="0">
                <a:solidFill>
                  <a:schemeClr val="tx2"/>
                </a:solidFill>
              </a:rPr>
              <a:t>A vision model estimates the shade on a path. It reaches the map only after a person adjusts and confirms it, labelled AI-confirmed.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SCREEN · FUTURE CANOPY</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Trees take years. Walkways work today.</a:t>
            </a:r>
            <a:endParaRPr lang="en-US" sz="3400" dirty="0"/>
          </a:p>
        </p:txBody>
      </p:sp>
      <p:pic>
        <p:nvPicPr>
          <p:cNvPr id="4" name="Screen · Future canopy screenshot" descr="Future canopy at year 10: the best plan becomes five tree rows for RM 51,700 avoiding 26.5 pedestrian-hours a day"/>
          <p:cNvPicPr>
            <a:picLocks noChangeAspect="1"/>
          </p:cNvPicPr>
          <p:nvPr/>
        </p:nvPicPr>
        <p:blipFill>
          <a:blip r:embed="rId3"/>
          <a:stretch>
            <a:fillRect/>
          </a:stretch>
        </p:blipFill>
        <p:spPr>
          <a:xfrm>
            <a:off x="548640" y="2011680"/>
            <a:ext cx="6766560" cy="4229100"/>
          </a:xfrm>
          <a:prstGeom prst="rect">
            <a:avLst/>
          </a:prstGeom>
        </p:spPr>
      </p:pic>
      <p:sp>
        <p:nvSpPr>
          <p:cNvPr id="5" name="Screen · Future canopy caption"/>
          <p:cNvSpPr txBox="1"/>
          <p:nvPr/>
        </p:nvSpPr>
        <p:spPr>
          <a:xfrm>
            <a:off x="7680960" y="2103120"/>
            <a:ext cx="3962095" cy="3291840"/>
          </a:xfrm>
          <a:prstGeom prst="rect">
            <a:avLst/>
          </a:prstGeom>
          <a:noFill/>
          <a:ln/>
        </p:spPr>
        <p:txBody>
          <a:bodyPr wrap="square" lIns="0" tIns="0" rIns="0" bIns="0" rtlCol="0" anchor="t"/>
          <a:lstStyle/>
          <a:p>
            <a:pPr marL="0" indent="0">
              <a:buNone/>
            </a:pPr>
            <a:r>
              <a:rPr lang="en-US" sz="1700" dirty="0">
                <a:solidFill>
                  <a:schemeClr val="tx2"/>
                </a:solidFill>
              </a:rPr>
              <a:t>At year 10 the best plan flips to five tree rows: twice the benefit for about half the cost, if the trees mature as modelled.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411480"/>
            <a:ext cx="11094415" cy="320040"/>
          </a:xfrm>
          <a:prstGeom prst="rect">
            <a:avLst/>
          </a:prstGeom>
          <a:noFill/>
          <a:ln/>
        </p:spPr>
        <p:txBody>
          <a:bodyPr wrap="square" lIns="0" tIns="0" rIns="0" bIns="0" rtlCol="0" anchor="t"/>
          <a:lstStyle/>
          <a:p>
            <a:pPr marL="0" indent="0" algn="l">
              <a:buNone/>
            </a:pPr>
            <a:r>
              <a:rPr lang="en-US" sz="1200" b="1" kern="0" spc="300" dirty="0">
                <a:solidFill>
                  <a:schemeClr val="accent3"/>
                </a:solidFill>
              </a:rPr>
              <a:t>SOURCES</a:t>
            </a:r>
            <a:endParaRPr lang="en-US" sz="1200" dirty="0"/>
          </a:p>
        </p:txBody>
      </p:sp>
      <p:sp>
        <p:nvSpPr>
          <p:cNvPr id="3" name="Text 0"/>
          <p:cNvSpPr>
            <a:spLocks noGrp="1"/>
          </p:cNvSpPr>
          <p:nvPr>
            <p:ph type="title" idx="101" hasCustomPrompt="1"/>
          </p:nvPr>
        </p:nvSpPr>
        <p:spPr>
          <a:xfrm>
            <a:off x="548640" y="749808"/>
            <a:ext cx="11094415" cy="1097280"/>
          </a:xfrm>
          <a:prstGeom prst="rect">
            <a:avLst/>
          </a:prstGeom>
          <a:noFill/>
          <a:ln/>
        </p:spPr>
        <p:txBody>
          <a:bodyPr wrap="square" lIns="0" tIns="0" rIns="0" bIns="0" rtlCol="0" anchor="t"/>
          <a:lstStyle/>
          <a:p>
            <a:pPr marL="0" indent="0" algn="l">
              <a:buNone/>
            </a:pPr>
            <a:r>
              <a:rPr lang="en-US" sz="3400" b="1" dirty="0">
                <a:solidFill>
                  <a:schemeClr val="tx1"/>
                </a:solidFill>
              </a:rPr>
              <a:t>Where the numbers come from</a:t>
            </a:r>
            <a:endParaRPr lang="en-US" sz="3400" dirty="0"/>
          </a:p>
        </p:txBody>
      </p:sp>
      <p:sp>
        <p:nvSpPr>
          <p:cNvPr id="4" name="Sources"/>
          <p:cNvSpPr txBox="1"/>
          <p:nvPr/>
        </p:nvSpPr>
        <p:spPr>
          <a:xfrm>
            <a:off x="548640" y="2011680"/>
            <a:ext cx="11094415" cy="4023360"/>
          </a:xfrm>
          <a:prstGeom prst="rect">
            <a:avLst/>
          </a:prstGeom>
          <a:noFill/>
          <a:ln/>
        </p:spPr>
        <p:txBody>
          <a:bodyPr wrap="square" lIns="0" tIns="0" rIns="0" bIns="0" rtlCol="0" anchor="t"/>
          <a:lstStyle/>
          <a:p>
            <a:pPr marL="0" indent="0">
              <a:spcAft>
                <a:spcPts val="800"/>
              </a:spcAft>
              <a:buNone/>
            </a:pPr>
            <a:r>
              <a:rPr lang="en-US" sz="1500" b="1" dirty="0">
                <a:solidFill>
                  <a:schemeClr val="tx1"/>
                </a:solidFill>
              </a:rPr>
              <a:t>Map data: </a:t>
            </a:r>
            <a:r>
              <a:rPr lang="en-US" sz="1500" dirty="0">
                <a:solidFill>
                  <a:schemeClr val="tx1"/>
                </a:solidFill>
              </a:rPr>
              <a:t>© OpenStreetMap contributors (ODbL): streets, buildings, places.</a:t>
            </a:r>
            <a:endParaRPr lang="en-US" sz="1500" dirty="0"/>
          </a:p>
          <a:p>
            <a:pPr marL="0" indent="0">
              <a:spcAft>
                <a:spcPts val="800"/>
              </a:spcAft>
              <a:buNone/>
            </a:pPr>
            <a:r>
              <a:rPr lang="en-US" sz="1500" b="1" dirty="0">
                <a:solidFill>
                  <a:schemeClr val="tx1"/>
                </a:solidFill>
              </a:rPr>
              <a:t>Rail ridership: </a:t>
            </a:r>
            <a:r>
              <a:rPr lang="en-US" sz="1500" dirty="0">
                <a:solidFill>
                  <a:schemeClr val="tx1"/>
                </a:solidFill>
              </a:rPr>
              <a:t>Prasarana ticket-gate exits by station, published on data.gov.my (CC BY 4.0).</a:t>
            </a:r>
            <a:endParaRPr lang="en-US" sz="1500" dirty="0"/>
          </a:p>
          <a:p>
            <a:pPr marL="0" indent="0">
              <a:spcAft>
                <a:spcPts val="800"/>
              </a:spcAft>
              <a:buNone/>
            </a:pPr>
            <a:r>
              <a:rPr lang="en-US" sz="1500" b="1" dirty="0">
                <a:solidFill>
                  <a:schemeClr val="tx1"/>
                </a:solidFill>
              </a:rPr>
              <a:t>Unit costs: </a:t>
            </a:r>
            <a:r>
              <a:rPr lang="en-US" sz="1500" dirty="0">
                <a:solidFill>
                  <a:schemeClr val="tx1"/>
                </a:solidFill>
              </a:rPr>
              <a:t>bottom-up estimates in MYR, editable in the app; to be replaced with contractor quotes.</a:t>
            </a:r>
            <a:endParaRPr lang="en-US" sz="1500" dirty="0"/>
          </a:p>
          <a:p>
            <a:pPr marL="0" indent="0">
              <a:spcAft>
                <a:spcPts val="800"/>
              </a:spcAft>
              <a:buNone/>
            </a:pPr>
            <a:r>
              <a:rPr lang="en-US" sz="1500" b="1" dirty="0">
                <a:solidFill>
                  <a:schemeClr val="tx1"/>
                </a:solidFill>
              </a:rPr>
              <a:t>Prior work: </a:t>
            </a:r>
            <a:r>
              <a:rPr lang="en-US" sz="1500" dirty="0">
                <a:solidFill>
                  <a:schemeClr val="tx1"/>
                </a:solidFill>
              </a:rPr>
              <a:t>Open Government Products, Undercover, Hack for Public Good (2026), hack.gov.sg/2026/undercover</a:t>
            </a:r>
            <a:endParaRPr lang="en-US" sz="1500" dirty="0"/>
          </a:p>
          <a:p>
            <a:pPr marL="0" indent="0">
              <a:spcAft>
                <a:spcPts val="800"/>
              </a:spcAft>
              <a:buNone/>
            </a:pPr>
            <a:r>
              <a:rPr lang="en-US" sz="1500" dirty="0">
                <a:solidFill>
                  <a:schemeClr val="tx1"/>
                </a:solidFill>
              </a:rPr>
              <a:t>Schrodi et al., Climate-sensitive Urban Planning through Optimization of Tree Placements (2023), arxiv.org/abs/2310.05691</a:t>
            </a:r>
            <a:endParaRPr lang="en-US" sz="1500" dirty="0"/>
          </a:p>
          <a:p>
            <a:pPr marL="0" indent="0">
              <a:spcAft>
                <a:spcPts val="800"/>
              </a:spcAft>
              <a:buNone/>
            </a:pPr>
            <a:r>
              <a:rPr lang="en-US" sz="1500" dirty="0">
                <a:solidFill>
                  <a:schemeClr val="tx1"/>
                </a:solidFill>
              </a:rPr>
              <a:t>CoolWalks for active mobility in urban street networks, Scientific Reports (2025), nature.com/articles/s41598-025-97200-2</a:t>
            </a:r>
            <a:endParaRPr lang="en-US" sz="1500" dirty="0"/>
          </a:p>
          <a:p>
            <a:pPr marL="0" indent="0">
              <a:spcAft>
                <a:spcPts val="800"/>
              </a:spcAft>
              <a:buNone/>
            </a:pPr>
            <a:r>
              <a:rPr lang="en-US" sz="1500" b="1" dirty="0">
                <a:solidFill>
                  <a:schemeClr val="tx1"/>
                </a:solidFill>
              </a:rPr>
              <a:t>SDP strategy: </a:t>
            </a:r>
            <a:r>
              <a:rPr lang="en-US" sz="1500" dirty="0">
                <a:solidFill>
                  <a:schemeClr val="tx1"/>
                </a:solidFill>
              </a:rPr>
              <a:t>Sime Darby Property Sustainability Strategy 2025–2030, from the hackathon briefing deck (9 Oct 2026).</a:t>
            </a:r>
            <a:endParaRPr lang="en-US" sz="1500" dirty="0"/>
          </a:p>
          <a:p>
            <a:pPr marL="0" indent="0">
              <a:spcAft>
                <a:spcPts val="800"/>
              </a:spcAft>
              <a:buNone/>
            </a:pPr>
            <a:r>
              <a:rPr lang="en-US" sz="1500" b="1" dirty="0">
                <a:solidFill>
                  <a:schemeClr val="tx1"/>
                </a:solidFill>
              </a:rPr>
              <a:t>Code: </a:t>
            </a:r>
            <a:r>
              <a:rPr lang="en-US" sz="1500" dirty="0">
                <a:solidFill>
                  <a:schemeClr val="tx1"/>
                </a:solidFill>
              </a:rPr>
              <a:t>github.com/evan-2005/Teduh</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TEDUH">
  <a:themeElements>
    <a:clrScheme name="TEDUH">
      <a:dk1>
        <a:srgbClr val="173D2E"/>
      </a:dk1>
      <a:lt1>
        <a:srgbClr val="FFFDF7"/>
      </a:lt1>
      <a:dk2>
        <a:srgbClr val="3D4A42"/>
      </a:dk2>
      <a:lt2>
        <a:srgbClr val="F7F3E8"/>
      </a:lt2>
      <a:accent1>
        <a:srgbClr val="E3A33B"/>
      </a:accent1>
      <a:accent2>
        <a:srgbClr val="2E7D50"/>
      </a:accent2>
      <a:accent3>
        <a:srgbClr val="96590A"/>
      </a:accent3>
      <a:accent4>
        <a:srgbClr val="BFD3C6"/>
      </a:accent4>
      <a:accent5>
        <a:srgbClr val="EFE8D6"/>
      </a:accent5>
      <a:accent6>
        <a:srgbClr val="1F5E86"/>
      </a:accent6>
      <a:hlink>
        <a:srgbClr val="1F5E86"/>
      </a:hlink>
      <a:folHlink>
        <a:srgbClr val="6A4C93"/>
      </a:folHlink>
    </a:clrScheme>
    <a:fontScheme name="TEDU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3288</Words>
  <Application>Microsoft Office PowerPoint</Application>
  <PresentationFormat>Widescreen</PresentationFormat>
  <Paragraphs>242</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TEDUH</vt:lpstr>
      <vt:lpstr>PowerPoint Presentation</vt:lpstr>
      <vt:lpstr>The walk from the station is the hottest part of the trip</vt:lpstr>
      <vt:lpstr>“With our budget, which shade helps the most everyday walks?”</vt:lpstr>
      <vt:lpstr>Teduh picks the shade that helps most</vt:lpstr>
      <vt:lpstr>2 pm. LRT station to the mall. RM 100,000.</vt:lpstr>
      <vt:lpstr>Open data in, a build pack out</vt:lpstr>
      <vt:lpstr>One well-placed walkway does most of the work</vt:lpstr>
      <vt:lpstr>Routing apps help a walker. Teduh helps a township build.</vt:lpstr>
      <vt:lpstr>It already runs, on any township</vt:lpstr>
      <vt:lpstr>Pilot one SDP township, then scale to 28</vt:lpstr>
      <vt:lpstr>PowerPoint Presentation</vt:lpstr>
      <vt:lpstr>Five minutes, two presenters</vt:lpstr>
      <vt:lpstr>What we model, and what we do not claim</vt:lpstr>
      <vt:lpstr>From plan to contractor quote</vt:lpstr>
      <vt:lpstr>A photo fills the gap the map can’t</vt:lpstr>
      <vt:lpstr>Trees take years. Walkways work today.</vt:lpstr>
      <vt:lpstr>Where the numbers come from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TEDUH: Small changes. Cooler journeys.</dc:title>
  <dc:subject>PptxGenJS Presentation</dc:subject>
  <dc:creator>Thien Gen and Steven</dc:creator>
  <cp:lastModifiedBy>EVAN LO JEN ZHEN</cp:lastModifiedBy>
  <cp:revision>2</cp:revision>
  <dcterms:created xsi:type="dcterms:W3CDTF">2026-10-19T16:21:27Z</dcterms:created>
  <dcterms:modified xsi:type="dcterms:W3CDTF">2026-10-19T16:38:36Z</dcterms:modified>
</cp:coreProperties>
</file>